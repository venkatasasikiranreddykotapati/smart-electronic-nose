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7" r:id="rId2"/>
    <p:sldId id="258" r:id="rId3"/>
    <p:sldId id="259" r:id="rId4"/>
    <p:sldId id="261" r:id="rId5"/>
    <p:sldId id="264" r:id="rId6"/>
    <p:sldId id="260" r:id="rId7"/>
    <p:sldId id="274" r:id="rId8"/>
    <p:sldId id="275" r:id="rId9"/>
    <p:sldId id="276" r:id="rId10"/>
    <p:sldId id="277" r:id="rId11"/>
    <p:sldId id="262" r:id="rId12"/>
    <p:sldId id="268" r:id="rId13"/>
    <p:sldId id="269" r:id="rId14"/>
    <p:sldId id="273" r:id="rId15"/>
    <p:sldId id="270" r:id="rId16"/>
    <p:sldId id="271" r:id="rId17"/>
    <p:sldId id="27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an Kumar" initials="P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p:cViewPr varScale="1">
        <p:scale>
          <a:sx n="58" d="100"/>
          <a:sy n="58" d="100"/>
        </p:scale>
        <p:origin x="1544" y="5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50"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751"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9C75C31-1C18-46B1-8A0F-25F688730052}" type="datetimeFigureOut">
              <a:rPr lang="en-US" smtClean="0"/>
              <a:t>3/10/2023</a:t>
            </a:fld>
            <a:endParaRPr lang="en-US"/>
          </a:p>
        </p:txBody>
      </p:sp>
      <p:sp>
        <p:nvSpPr>
          <p:cNvPr id="1048752"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753"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A204C7-47CA-4D8B-AE3F-D35A4A8EE867}"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44"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1048745"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23597B-99E9-4D89-B3A7-AF7269CF0CB0}" type="datetimeFigureOut">
              <a:rPr lang="en-IN" smtClean="0"/>
              <a:t>10-03-2023</a:t>
            </a:fld>
            <a:endParaRPr lang="en-IN"/>
          </a:p>
        </p:txBody>
      </p:sp>
      <p:sp>
        <p:nvSpPr>
          <p:cNvPr id="1048746"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1048747"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48"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1048749"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63E9F-17D9-4D9D-A155-C06C7C01E417}" type="slidenum">
              <a:rPr lang="en-IN" smtClean="0"/>
              <a:t>‹#›</a:t>
            </a:fld>
            <a:endParaRPr lang="en-IN"/>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Slide Image Placeholder 1"/>
          <p:cNvSpPr>
            <a:spLocks noGrp="1" noRot="1" noChangeAspect="1"/>
          </p:cNvSpPr>
          <p:nvPr>
            <p:ph type="sldImg"/>
          </p:nvPr>
        </p:nvSpPr>
        <p:spPr/>
      </p:sp>
      <p:sp>
        <p:nvSpPr>
          <p:cNvPr id="1048589" name="Notes Placeholder 2"/>
          <p:cNvSpPr>
            <a:spLocks noGrp="1"/>
          </p:cNvSpPr>
          <p:nvPr>
            <p:ph type="body" idx="1"/>
          </p:nvPr>
        </p:nvSpPr>
        <p:spPr/>
        <p:txBody>
          <a:bodyPr/>
          <a:lstStyle/>
          <a:p>
            <a:endParaRPr lang="en-IN"/>
          </a:p>
        </p:txBody>
      </p:sp>
      <p:sp>
        <p:nvSpPr>
          <p:cNvPr id="1048590" name="Slide Number Placeholder 3"/>
          <p:cNvSpPr>
            <a:spLocks noGrp="1"/>
          </p:cNvSpPr>
          <p:nvPr>
            <p:ph type="sldNum" sz="quarter" idx="10"/>
          </p:nvPr>
        </p:nvSpPr>
        <p:spPr/>
        <p:txBody>
          <a:bodyPr/>
          <a:lstStyle/>
          <a:p>
            <a:fld id="{20769F63-365D-4A0A-B033-A46EF4671CBB}" type="slidenum">
              <a:rPr lang="en-IN" smtClean="0"/>
              <a:t>1</a:t>
            </a:fld>
            <a:endParaRPr lang="en-IN"/>
          </a:p>
        </p:txBody>
      </p:sp>
      <p:sp>
        <p:nvSpPr>
          <p:cNvPr id="1048591" name="Footer Placeholder 4"/>
          <p:cNvSpPr>
            <a:spLocks noGrp="1"/>
          </p:cNvSpPr>
          <p:nvPr>
            <p:ph type="ftr" sz="quarter" idx="11"/>
          </p:nvPr>
        </p:nvSpPr>
        <p:spPr/>
        <p:txBody>
          <a:bodyPr/>
          <a:lstStyle/>
          <a:p>
            <a:r>
              <a:rPr lang="en-IN"/>
              <a:t>BATCH NO:                   PRESENTED DATE:</a:t>
            </a:r>
          </a:p>
        </p:txBody>
      </p:sp>
      <p:sp>
        <p:nvSpPr>
          <p:cNvPr id="1048592" name="Header Placeholder 5"/>
          <p:cNvSpPr>
            <a:spLocks noGrp="1"/>
          </p:cNvSpPr>
          <p:nvPr>
            <p:ph type="hdr" sz="quarter" idx="12"/>
          </p:nvPr>
        </p:nvSpPr>
        <p:spPr/>
        <p:txBody>
          <a:bodyPr/>
          <a:lstStyle/>
          <a:p>
            <a:r>
              <a:rPr lang="en-IN"/>
              <a:t>REVIEW-I</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2097156" name="Picture 7" descr="Droplets-SD-Title-R1d.png"/>
          <p:cNvPicPr>
            <a:picLocks noChangeAspect="1"/>
          </p:cNvPicPr>
          <p:nvPr/>
        </p:nvPicPr>
        <p:blipFill>
          <a:blip r:embed="rId2"/>
          <a:stretch>
            <a:fillRect/>
          </a:stretch>
        </p:blipFill>
        <p:spPr>
          <a:xfrm>
            <a:off x="0" y="0"/>
            <a:ext cx="9144000" cy="6858000"/>
          </a:xfrm>
          <a:prstGeom prst="rect">
            <a:avLst/>
          </a:prstGeom>
        </p:spPr>
      </p:pic>
      <p:sp>
        <p:nvSpPr>
          <p:cNvPr id="1048646"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1048647"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48648" name="Date Placeholder 3"/>
          <p:cNvSpPr>
            <a:spLocks noGrp="1"/>
          </p:cNvSpPr>
          <p:nvPr>
            <p:ph type="dt" sz="half" idx="10"/>
          </p:nvPr>
        </p:nvSpPr>
        <p:spPr/>
        <p:txBody>
          <a:bodyPr/>
          <a:lstStyle/>
          <a:p>
            <a:fld id="{A140FEA5-454B-4044-8182-B76FB9A08BC0}" type="datetime1">
              <a:rPr lang="en-IN" smtClean="0"/>
              <a:t>10-03-2023</a:t>
            </a:fld>
            <a:endParaRPr lang="en-IN"/>
          </a:p>
        </p:txBody>
      </p:sp>
      <p:sp>
        <p:nvSpPr>
          <p:cNvPr id="1048649" name="Footer Placeholder 4"/>
          <p:cNvSpPr>
            <a:spLocks noGrp="1"/>
          </p:cNvSpPr>
          <p:nvPr>
            <p:ph type="ftr" sz="quarter" idx="11"/>
          </p:nvPr>
        </p:nvSpPr>
        <p:spPr/>
        <p:txBody>
          <a:bodyPr/>
          <a:lstStyle/>
          <a:p>
            <a:r>
              <a:rPr lang="en-IN"/>
              <a:t>BATCH NO:                   PRESENTED DATE:</a:t>
            </a:r>
          </a:p>
        </p:txBody>
      </p:sp>
      <p:sp>
        <p:nvSpPr>
          <p:cNvPr id="1048650"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2097165" name="Picture 6"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06" name="Title 1"/>
          <p:cNvSpPr>
            <a:spLocks noGrp="1"/>
          </p:cNvSpPr>
          <p:nvPr>
            <p:ph type="title"/>
          </p:nvPr>
        </p:nvSpPr>
        <p:spPr/>
        <p:txBody>
          <a:bodyPr/>
          <a:lstStyle/>
          <a:p>
            <a:r>
              <a:rPr lang="en-US"/>
              <a:t>Click to edit Master title style</a:t>
            </a:r>
            <a:endParaRPr lang="en-US" dirty="0"/>
          </a:p>
        </p:txBody>
      </p:sp>
      <p:sp>
        <p:nvSpPr>
          <p:cNvPr id="1048707"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08" name="Date Placeholder 3"/>
          <p:cNvSpPr>
            <a:spLocks noGrp="1"/>
          </p:cNvSpPr>
          <p:nvPr>
            <p:ph type="dt" sz="half" idx="10"/>
          </p:nvPr>
        </p:nvSpPr>
        <p:spPr/>
        <p:txBody>
          <a:bodyPr/>
          <a:lstStyle/>
          <a:p>
            <a:fld id="{6CD4EE3E-49BF-4850-BEF4-2D267339C10C}" type="datetime1">
              <a:rPr lang="en-IN" smtClean="0"/>
              <a:t>10-03-2023</a:t>
            </a:fld>
            <a:endParaRPr lang="en-IN"/>
          </a:p>
        </p:txBody>
      </p:sp>
      <p:sp>
        <p:nvSpPr>
          <p:cNvPr id="1048709" name="Footer Placeholder 4"/>
          <p:cNvSpPr>
            <a:spLocks noGrp="1"/>
          </p:cNvSpPr>
          <p:nvPr>
            <p:ph type="ftr" sz="quarter" idx="11"/>
          </p:nvPr>
        </p:nvSpPr>
        <p:spPr/>
        <p:txBody>
          <a:bodyPr/>
          <a:lstStyle/>
          <a:p>
            <a:r>
              <a:rPr lang="en-IN"/>
              <a:t>BATCH NO:                   PRESENTED DATE:</a:t>
            </a:r>
          </a:p>
        </p:txBody>
      </p:sp>
      <p:sp>
        <p:nvSpPr>
          <p:cNvPr id="1048710"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2097161" name="Picture 7"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80"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1048681"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82" name="Date Placeholder 3"/>
          <p:cNvSpPr>
            <a:spLocks noGrp="1"/>
          </p:cNvSpPr>
          <p:nvPr>
            <p:ph type="dt" sz="half" idx="10"/>
          </p:nvPr>
        </p:nvSpPr>
        <p:spPr/>
        <p:txBody>
          <a:bodyPr/>
          <a:lstStyle/>
          <a:p>
            <a:fld id="{8647401E-99F8-46D5-BF88-168E4663FFF2}" type="datetime1">
              <a:rPr lang="en-IN" smtClean="0"/>
              <a:t>10-03-2023</a:t>
            </a:fld>
            <a:endParaRPr lang="en-IN"/>
          </a:p>
        </p:txBody>
      </p:sp>
      <p:sp>
        <p:nvSpPr>
          <p:cNvPr id="1048683" name="Footer Placeholder 4"/>
          <p:cNvSpPr>
            <a:spLocks noGrp="1"/>
          </p:cNvSpPr>
          <p:nvPr>
            <p:ph type="ftr" sz="quarter" idx="11"/>
          </p:nvPr>
        </p:nvSpPr>
        <p:spPr/>
        <p:txBody>
          <a:bodyPr/>
          <a:lstStyle/>
          <a:p>
            <a:r>
              <a:rPr lang="en-IN"/>
              <a:t>BATCH NO:                   PRESENTED DATE:</a:t>
            </a:r>
          </a:p>
        </p:txBody>
      </p:sp>
      <p:sp>
        <p:nvSpPr>
          <p:cNvPr id="1048684"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2097167"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17"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048718"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19"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0" name="Date Placeholder 4"/>
          <p:cNvSpPr>
            <a:spLocks noGrp="1"/>
          </p:cNvSpPr>
          <p:nvPr>
            <p:ph type="dt" sz="half" idx="10"/>
          </p:nvPr>
        </p:nvSpPr>
        <p:spPr/>
        <p:txBody>
          <a:bodyPr/>
          <a:lstStyle/>
          <a:p>
            <a:fld id="{6CD4EE3E-49BF-4850-BEF4-2D267339C10C}" type="datetime1">
              <a:rPr lang="en-IN" smtClean="0"/>
              <a:t>10-03-2023</a:t>
            </a:fld>
            <a:endParaRPr lang="en-IN"/>
          </a:p>
        </p:txBody>
      </p:sp>
      <p:sp>
        <p:nvSpPr>
          <p:cNvPr id="1048721" name="Footer Placeholder 5"/>
          <p:cNvSpPr>
            <a:spLocks noGrp="1"/>
          </p:cNvSpPr>
          <p:nvPr>
            <p:ph type="ftr" sz="quarter" idx="11"/>
          </p:nvPr>
        </p:nvSpPr>
        <p:spPr/>
        <p:txBody>
          <a:bodyPr/>
          <a:lstStyle/>
          <a:p>
            <a:r>
              <a:rPr lang="en-IN"/>
              <a:t>BATCH NO:                   PRESENTED DATE:</a:t>
            </a:r>
          </a:p>
        </p:txBody>
      </p:sp>
      <p:sp>
        <p:nvSpPr>
          <p:cNvPr id="1048722"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97162" name="Picture 10"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85"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048686"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87"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88"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89"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90" name="Date Placeholder 6"/>
          <p:cNvSpPr>
            <a:spLocks noGrp="1"/>
          </p:cNvSpPr>
          <p:nvPr>
            <p:ph type="dt" sz="half" idx="10"/>
          </p:nvPr>
        </p:nvSpPr>
        <p:spPr/>
        <p:txBody>
          <a:bodyPr/>
          <a:lstStyle/>
          <a:p>
            <a:fld id="{6CD4EE3E-49BF-4850-BEF4-2D267339C10C}" type="datetime1">
              <a:rPr lang="en-IN" smtClean="0"/>
              <a:t>10-03-2023</a:t>
            </a:fld>
            <a:endParaRPr lang="en-IN"/>
          </a:p>
        </p:txBody>
      </p:sp>
      <p:sp>
        <p:nvSpPr>
          <p:cNvPr id="1048691" name="Footer Placeholder 7"/>
          <p:cNvSpPr>
            <a:spLocks noGrp="1"/>
          </p:cNvSpPr>
          <p:nvPr>
            <p:ph type="ftr" sz="quarter" idx="11"/>
          </p:nvPr>
        </p:nvSpPr>
        <p:spPr/>
        <p:txBody>
          <a:bodyPr/>
          <a:lstStyle/>
          <a:p>
            <a:r>
              <a:rPr lang="en-IN"/>
              <a:t>BATCH NO:                   PRESENTED DATE:</a:t>
            </a:r>
          </a:p>
        </p:txBody>
      </p:sp>
      <p:sp>
        <p:nvSpPr>
          <p:cNvPr id="1048692" name="Slide Number Placeholder 8"/>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097155" name="Picture 6"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39" name="Title 1"/>
          <p:cNvSpPr>
            <a:spLocks noGrp="1"/>
          </p:cNvSpPr>
          <p:nvPr>
            <p:ph type="title"/>
          </p:nvPr>
        </p:nvSpPr>
        <p:spPr/>
        <p:txBody>
          <a:bodyPr/>
          <a:lstStyle/>
          <a:p>
            <a:r>
              <a:rPr lang="en-US"/>
              <a:t>Click to edit Master title style</a:t>
            </a:r>
            <a:endParaRPr lang="en-US" dirty="0"/>
          </a:p>
        </p:txBody>
      </p:sp>
      <p:sp>
        <p:nvSpPr>
          <p:cNvPr id="1048640" name="Date Placeholder 2"/>
          <p:cNvSpPr>
            <a:spLocks noGrp="1"/>
          </p:cNvSpPr>
          <p:nvPr>
            <p:ph type="dt" sz="half" idx="10"/>
          </p:nvPr>
        </p:nvSpPr>
        <p:spPr/>
        <p:txBody>
          <a:bodyPr/>
          <a:lstStyle/>
          <a:p>
            <a:fld id="{909096E9-518F-4632-A6C3-F5ACA0892BA2}" type="datetime1">
              <a:rPr lang="en-IN" smtClean="0"/>
              <a:t>10-03-2023</a:t>
            </a:fld>
            <a:endParaRPr lang="en-IN"/>
          </a:p>
        </p:txBody>
      </p:sp>
      <p:sp>
        <p:nvSpPr>
          <p:cNvPr id="1048641" name="Footer Placeholder 3"/>
          <p:cNvSpPr>
            <a:spLocks noGrp="1"/>
          </p:cNvSpPr>
          <p:nvPr>
            <p:ph type="ftr" sz="quarter" idx="11"/>
          </p:nvPr>
        </p:nvSpPr>
        <p:spPr/>
        <p:txBody>
          <a:bodyPr/>
          <a:lstStyle/>
          <a:p>
            <a:r>
              <a:rPr lang="en-IN"/>
              <a:t>BATCH NO:                   PRESENTED DATE:</a:t>
            </a:r>
          </a:p>
        </p:txBody>
      </p:sp>
      <p:sp>
        <p:nvSpPr>
          <p:cNvPr id="1048642" name="Slide Number Placeholder 4"/>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097153" name="Picture 5"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581" name="Date Placeholder 1"/>
          <p:cNvSpPr>
            <a:spLocks noGrp="1"/>
          </p:cNvSpPr>
          <p:nvPr>
            <p:ph type="dt" sz="half" idx="10"/>
          </p:nvPr>
        </p:nvSpPr>
        <p:spPr/>
        <p:txBody>
          <a:bodyPr/>
          <a:lstStyle/>
          <a:p>
            <a:fld id="{122F4512-2E1B-479E-977D-A8E4B0D54900}" type="datetime1">
              <a:rPr lang="en-IN" smtClean="0"/>
              <a:t>10-03-2023</a:t>
            </a:fld>
            <a:endParaRPr lang="en-IN"/>
          </a:p>
        </p:txBody>
      </p:sp>
      <p:sp>
        <p:nvSpPr>
          <p:cNvPr id="1048582" name="Footer Placeholder 2"/>
          <p:cNvSpPr>
            <a:spLocks noGrp="1"/>
          </p:cNvSpPr>
          <p:nvPr>
            <p:ph type="ftr" sz="quarter" idx="11"/>
          </p:nvPr>
        </p:nvSpPr>
        <p:spPr/>
        <p:txBody>
          <a:bodyPr/>
          <a:lstStyle/>
          <a:p>
            <a:r>
              <a:rPr lang="en-IN"/>
              <a:t>BATCH NO:                   PRESENTED DATE:</a:t>
            </a:r>
          </a:p>
        </p:txBody>
      </p:sp>
      <p:sp>
        <p:nvSpPr>
          <p:cNvPr id="1048583" name="Slide Number Placeholder 3"/>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2097169"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33"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48734"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35"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36" name="Date Placeholder 4"/>
          <p:cNvSpPr>
            <a:spLocks noGrp="1"/>
          </p:cNvSpPr>
          <p:nvPr>
            <p:ph type="dt" sz="half" idx="10"/>
          </p:nvPr>
        </p:nvSpPr>
        <p:spPr/>
        <p:txBody>
          <a:bodyPr/>
          <a:lstStyle/>
          <a:p>
            <a:fld id="{6CD4EE3E-49BF-4850-BEF4-2D267339C10C}" type="datetime1">
              <a:rPr lang="en-IN" smtClean="0"/>
              <a:t>10-03-2023</a:t>
            </a:fld>
            <a:endParaRPr lang="en-IN"/>
          </a:p>
        </p:txBody>
      </p:sp>
      <p:sp>
        <p:nvSpPr>
          <p:cNvPr id="1048737" name="Footer Placeholder 5"/>
          <p:cNvSpPr>
            <a:spLocks noGrp="1"/>
          </p:cNvSpPr>
          <p:nvPr>
            <p:ph type="ftr" sz="quarter" idx="11"/>
          </p:nvPr>
        </p:nvSpPr>
        <p:spPr/>
        <p:txBody>
          <a:bodyPr/>
          <a:lstStyle/>
          <a:p>
            <a:r>
              <a:rPr lang="en-IN"/>
              <a:t>BATCH NO:                   PRESENTED DATE:</a:t>
            </a:r>
          </a:p>
        </p:txBody>
      </p:sp>
      <p:sp>
        <p:nvSpPr>
          <p:cNvPr id="1048738"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097159"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61"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1048662"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48663"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64" name="Date Placeholder 4"/>
          <p:cNvSpPr>
            <a:spLocks noGrp="1"/>
          </p:cNvSpPr>
          <p:nvPr>
            <p:ph type="dt" sz="half" idx="10"/>
          </p:nvPr>
        </p:nvSpPr>
        <p:spPr/>
        <p:txBody>
          <a:bodyPr/>
          <a:lstStyle/>
          <a:p>
            <a:fld id="{9BD44FC8-D3BB-4894-BCCD-7574A3411B0A}" type="datetime1">
              <a:rPr lang="en-IN" smtClean="0"/>
              <a:t>10-03-2023</a:t>
            </a:fld>
            <a:endParaRPr lang="en-IN"/>
          </a:p>
        </p:txBody>
      </p:sp>
      <p:sp>
        <p:nvSpPr>
          <p:cNvPr id="1048665" name="Footer Placeholder 5"/>
          <p:cNvSpPr>
            <a:spLocks noGrp="1"/>
          </p:cNvSpPr>
          <p:nvPr>
            <p:ph type="ftr" sz="quarter" idx="11"/>
          </p:nvPr>
        </p:nvSpPr>
        <p:spPr/>
        <p:txBody>
          <a:bodyPr/>
          <a:lstStyle/>
          <a:p>
            <a:r>
              <a:rPr lang="en-IN"/>
              <a:t>BATCH NO:                   PRESENTED DATE:</a:t>
            </a:r>
          </a:p>
        </p:txBody>
      </p:sp>
      <p:sp>
        <p:nvSpPr>
          <p:cNvPr id="1048666"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2097166"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11"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1048712"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48713"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14" name="Date Placeholder 4"/>
          <p:cNvSpPr>
            <a:spLocks noGrp="1"/>
          </p:cNvSpPr>
          <p:nvPr>
            <p:ph type="dt" sz="half" idx="10"/>
          </p:nvPr>
        </p:nvSpPr>
        <p:spPr/>
        <p:txBody>
          <a:bodyPr/>
          <a:lstStyle/>
          <a:p>
            <a:fld id="{6CD4EE3E-49BF-4850-BEF4-2D267339C10C}" type="datetime1">
              <a:rPr lang="en-IN" smtClean="0"/>
              <a:t>10-03-2023</a:t>
            </a:fld>
            <a:endParaRPr lang="en-IN"/>
          </a:p>
        </p:txBody>
      </p:sp>
      <p:sp>
        <p:nvSpPr>
          <p:cNvPr id="1048715" name="Footer Placeholder 5"/>
          <p:cNvSpPr>
            <a:spLocks noGrp="1"/>
          </p:cNvSpPr>
          <p:nvPr>
            <p:ph type="ftr" sz="quarter" idx="11"/>
          </p:nvPr>
        </p:nvSpPr>
        <p:spPr/>
        <p:txBody>
          <a:bodyPr/>
          <a:lstStyle/>
          <a:p>
            <a:r>
              <a:rPr lang="en-IN"/>
              <a:t>BATCH NO:                   PRESENTED DATE:</a:t>
            </a:r>
          </a:p>
        </p:txBody>
      </p:sp>
      <p:sp>
        <p:nvSpPr>
          <p:cNvPr id="1048716"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2097158"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56"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1048657"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8" name="Date Placeholder 4"/>
          <p:cNvSpPr>
            <a:spLocks noGrp="1"/>
          </p:cNvSpPr>
          <p:nvPr>
            <p:ph type="dt" sz="half" idx="10"/>
          </p:nvPr>
        </p:nvSpPr>
        <p:spPr/>
        <p:txBody>
          <a:bodyPr/>
          <a:lstStyle/>
          <a:p>
            <a:fld id="{6CD4EE3E-49BF-4850-BEF4-2D267339C10C}" type="datetime1">
              <a:rPr lang="en-IN" smtClean="0"/>
              <a:t>10-03-2023</a:t>
            </a:fld>
            <a:endParaRPr lang="en-IN"/>
          </a:p>
        </p:txBody>
      </p:sp>
      <p:sp>
        <p:nvSpPr>
          <p:cNvPr id="1048659" name="Footer Placeholder 5"/>
          <p:cNvSpPr>
            <a:spLocks noGrp="1"/>
          </p:cNvSpPr>
          <p:nvPr>
            <p:ph type="ftr" sz="quarter" idx="11"/>
          </p:nvPr>
        </p:nvSpPr>
        <p:spPr/>
        <p:txBody>
          <a:bodyPr/>
          <a:lstStyle/>
          <a:p>
            <a:r>
              <a:rPr lang="en-IN"/>
              <a:t>BATCH NO:                   PRESENTED DATE:</a:t>
            </a:r>
          </a:p>
        </p:txBody>
      </p:sp>
      <p:sp>
        <p:nvSpPr>
          <p:cNvPr id="1048660"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2097164" name="Picture 12"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98"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048699"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00"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01" name="Date Placeholder 4"/>
          <p:cNvSpPr>
            <a:spLocks noGrp="1"/>
          </p:cNvSpPr>
          <p:nvPr>
            <p:ph type="dt" sz="half" idx="10"/>
          </p:nvPr>
        </p:nvSpPr>
        <p:spPr/>
        <p:txBody>
          <a:bodyPr/>
          <a:lstStyle/>
          <a:p>
            <a:fld id="{6CD4EE3E-49BF-4850-BEF4-2D267339C10C}" type="datetime1">
              <a:rPr lang="en-IN" smtClean="0"/>
              <a:t>10-03-2023</a:t>
            </a:fld>
            <a:endParaRPr lang="en-IN"/>
          </a:p>
        </p:txBody>
      </p:sp>
      <p:sp>
        <p:nvSpPr>
          <p:cNvPr id="1048702" name="Footer Placeholder 5"/>
          <p:cNvSpPr>
            <a:spLocks noGrp="1"/>
          </p:cNvSpPr>
          <p:nvPr>
            <p:ph type="ftr" sz="quarter" idx="11"/>
          </p:nvPr>
        </p:nvSpPr>
        <p:spPr/>
        <p:txBody>
          <a:bodyPr/>
          <a:lstStyle/>
          <a:p>
            <a:r>
              <a:rPr lang="en-IN"/>
              <a:t>BATCH NO:                   PRESENTED DATE:</a:t>
            </a:r>
          </a:p>
        </p:txBody>
      </p:sp>
      <p:sp>
        <p:nvSpPr>
          <p:cNvPr id="1048703" name="Slide Number Placeholder 6"/>
          <p:cNvSpPr>
            <a:spLocks noGrp="1"/>
          </p:cNvSpPr>
          <p:nvPr>
            <p:ph type="sldNum" sz="quarter" idx="12"/>
          </p:nvPr>
        </p:nvSpPr>
        <p:spPr/>
        <p:txBody>
          <a:bodyPr/>
          <a:lstStyle/>
          <a:p>
            <a:fld id="{669AD40C-E5A7-4132-A31D-54A4D1BB6E89}" type="slidenum">
              <a:rPr lang="en-IN" smtClean="0"/>
              <a:t>‹#›</a:t>
            </a:fld>
            <a:endParaRPr lang="en-IN"/>
          </a:p>
        </p:txBody>
      </p:sp>
      <p:sp>
        <p:nvSpPr>
          <p:cNvPr id="1048704"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48705"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2097157"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51"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1048652"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3" name="Date Placeholder 4"/>
          <p:cNvSpPr>
            <a:spLocks noGrp="1"/>
          </p:cNvSpPr>
          <p:nvPr>
            <p:ph type="dt" sz="half" idx="10"/>
          </p:nvPr>
        </p:nvSpPr>
        <p:spPr/>
        <p:txBody>
          <a:bodyPr/>
          <a:lstStyle/>
          <a:p>
            <a:fld id="{6CD4EE3E-49BF-4850-BEF4-2D267339C10C}" type="datetime1">
              <a:rPr lang="en-IN" smtClean="0"/>
              <a:t>10-03-2023</a:t>
            </a:fld>
            <a:endParaRPr lang="en-IN"/>
          </a:p>
        </p:txBody>
      </p:sp>
      <p:sp>
        <p:nvSpPr>
          <p:cNvPr id="1048654" name="Footer Placeholder 5"/>
          <p:cNvSpPr>
            <a:spLocks noGrp="1"/>
          </p:cNvSpPr>
          <p:nvPr>
            <p:ph type="ftr" sz="quarter" idx="11"/>
          </p:nvPr>
        </p:nvSpPr>
        <p:spPr/>
        <p:txBody>
          <a:bodyPr/>
          <a:lstStyle/>
          <a:p>
            <a:r>
              <a:rPr lang="en-IN"/>
              <a:t>BATCH NO:                   PRESENTED DATE:</a:t>
            </a:r>
          </a:p>
        </p:txBody>
      </p:sp>
      <p:sp>
        <p:nvSpPr>
          <p:cNvPr id="1048655" name="Slide Number Placeholder 6"/>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2097168" name="Picture 13"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23"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1048724"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25"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26"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27"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28"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29"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30" name="Date Placeholder 2"/>
          <p:cNvSpPr>
            <a:spLocks noGrp="1"/>
          </p:cNvSpPr>
          <p:nvPr>
            <p:ph type="dt" sz="half" idx="10"/>
          </p:nvPr>
        </p:nvSpPr>
        <p:spPr/>
        <p:txBody>
          <a:bodyPr/>
          <a:lstStyle/>
          <a:p>
            <a:fld id="{6CD4EE3E-49BF-4850-BEF4-2D267339C10C}" type="datetime1">
              <a:rPr lang="en-IN" smtClean="0"/>
              <a:t>10-03-2023</a:t>
            </a:fld>
            <a:endParaRPr lang="en-IN"/>
          </a:p>
        </p:txBody>
      </p:sp>
      <p:sp>
        <p:nvSpPr>
          <p:cNvPr id="1048731" name="Footer Placeholder 3"/>
          <p:cNvSpPr>
            <a:spLocks noGrp="1"/>
          </p:cNvSpPr>
          <p:nvPr>
            <p:ph type="ftr" sz="quarter" idx="11"/>
          </p:nvPr>
        </p:nvSpPr>
        <p:spPr/>
        <p:txBody>
          <a:bodyPr/>
          <a:lstStyle/>
          <a:p>
            <a:r>
              <a:rPr lang="en-IN"/>
              <a:t>BATCH NO:                   PRESENTED DATE:</a:t>
            </a:r>
          </a:p>
        </p:txBody>
      </p:sp>
      <p:sp>
        <p:nvSpPr>
          <p:cNvPr id="1048732" name="Slide Number Placeholder 4"/>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097160" name="Picture 16"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67"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048668"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9"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70"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71"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2"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73"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74"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5"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76"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77" name="Date Placeholder 2"/>
          <p:cNvSpPr>
            <a:spLocks noGrp="1"/>
          </p:cNvSpPr>
          <p:nvPr>
            <p:ph type="dt" sz="half" idx="10"/>
          </p:nvPr>
        </p:nvSpPr>
        <p:spPr/>
        <p:txBody>
          <a:bodyPr/>
          <a:lstStyle/>
          <a:p>
            <a:fld id="{6CD4EE3E-49BF-4850-BEF4-2D267339C10C}" type="datetime1">
              <a:rPr lang="en-IN" smtClean="0"/>
              <a:t>10-03-2023</a:t>
            </a:fld>
            <a:endParaRPr lang="en-IN"/>
          </a:p>
        </p:txBody>
      </p:sp>
      <p:sp>
        <p:nvSpPr>
          <p:cNvPr id="1048678" name="Footer Placeholder 3"/>
          <p:cNvSpPr>
            <a:spLocks noGrp="1"/>
          </p:cNvSpPr>
          <p:nvPr>
            <p:ph type="ftr" sz="quarter" idx="11"/>
          </p:nvPr>
        </p:nvSpPr>
        <p:spPr/>
        <p:txBody>
          <a:bodyPr/>
          <a:lstStyle/>
          <a:p>
            <a:r>
              <a:rPr lang="en-IN"/>
              <a:t>BATCH NO:                   PRESENTED DATE:</a:t>
            </a:r>
          </a:p>
        </p:txBody>
      </p:sp>
      <p:sp>
        <p:nvSpPr>
          <p:cNvPr id="1048679" name="Slide Number Placeholder 4"/>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2097170" name="Picture 8"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739" name="Title 1"/>
          <p:cNvSpPr>
            <a:spLocks noGrp="1"/>
          </p:cNvSpPr>
          <p:nvPr>
            <p:ph type="title"/>
          </p:nvPr>
        </p:nvSpPr>
        <p:spPr/>
        <p:txBody>
          <a:bodyPr/>
          <a:lstStyle/>
          <a:p>
            <a:r>
              <a:rPr lang="en-US"/>
              <a:t>Click to edit Master title style</a:t>
            </a:r>
            <a:endParaRPr lang="en-US" dirty="0"/>
          </a:p>
        </p:txBody>
      </p:sp>
      <p:sp>
        <p:nvSpPr>
          <p:cNvPr id="1048740"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41" name="Date Placeholder 3"/>
          <p:cNvSpPr>
            <a:spLocks noGrp="1"/>
          </p:cNvSpPr>
          <p:nvPr>
            <p:ph type="dt" sz="half" idx="10"/>
          </p:nvPr>
        </p:nvSpPr>
        <p:spPr/>
        <p:txBody>
          <a:bodyPr/>
          <a:lstStyle/>
          <a:p>
            <a:fld id="{6CD4EE3E-49BF-4850-BEF4-2D267339C10C}" type="datetime1">
              <a:rPr lang="en-IN" smtClean="0"/>
              <a:t>10-03-2023</a:t>
            </a:fld>
            <a:endParaRPr lang="en-IN"/>
          </a:p>
        </p:txBody>
      </p:sp>
      <p:sp>
        <p:nvSpPr>
          <p:cNvPr id="1048742" name="Footer Placeholder 4"/>
          <p:cNvSpPr>
            <a:spLocks noGrp="1"/>
          </p:cNvSpPr>
          <p:nvPr>
            <p:ph type="ftr" sz="quarter" idx="11"/>
          </p:nvPr>
        </p:nvSpPr>
        <p:spPr/>
        <p:txBody>
          <a:bodyPr/>
          <a:lstStyle/>
          <a:p>
            <a:r>
              <a:rPr lang="en-IN"/>
              <a:t>BATCH NO:                   PRESENTED DATE:</a:t>
            </a:r>
          </a:p>
        </p:txBody>
      </p:sp>
      <p:sp>
        <p:nvSpPr>
          <p:cNvPr id="1048743"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2097163" name="Picture 9" descr="Droplets-SD-Content-R1d.png"/>
          <p:cNvPicPr>
            <a:picLocks noChangeAspect="1"/>
          </p:cNvPicPr>
          <p:nvPr/>
        </p:nvPicPr>
        <p:blipFill>
          <a:blip r:embed="rId2"/>
          <a:stretch>
            <a:fillRect/>
          </a:stretch>
        </p:blipFill>
        <p:spPr>
          <a:xfrm>
            <a:off x="0" y="0"/>
            <a:ext cx="9144000" cy="6858000"/>
          </a:xfrm>
          <a:prstGeom prst="rect">
            <a:avLst/>
          </a:prstGeom>
        </p:spPr>
      </p:pic>
      <p:sp>
        <p:nvSpPr>
          <p:cNvPr id="1048693" name="Vertical Title 1"/>
          <p:cNvSpPr>
            <a:spLocks noGrp="1"/>
          </p:cNvSpPr>
          <p:nvPr>
            <p:ph type="title" orient="vert"/>
          </p:nvPr>
        </p:nvSpPr>
        <p:spPr>
          <a:xfrm>
            <a:off x="6543675" y="609602"/>
            <a:ext cx="1914995" cy="5181599"/>
          </a:xfrm>
        </p:spPr>
        <p:txBody>
          <a:bodyPr vert="eaVert"/>
          <a:lstStyle>
            <a:lvl1pPr algn="l"/>
          </a:lstStyle>
          <a:p>
            <a:r>
              <a:rPr lang="en-US"/>
              <a:t>Click to edit Master title style</a:t>
            </a:r>
            <a:endParaRPr lang="en-US" dirty="0"/>
          </a:p>
        </p:txBody>
      </p:sp>
      <p:sp>
        <p:nvSpPr>
          <p:cNvPr id="1048694"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95" name="Date Placeholder 3"/>
          <p:cNvSpPr>
            <a:spLocks noGrp="1"/>
          </p:cNvSpPr>
          <p:nvPr>
            <p:ph type="dt" sz="half" idx="10"/>
          </p:nvPr>
        </p:nvSpPr>
        <p:spPr/>
        <p:txBody>
          <a:bodyPr/>
          <a:lstStyle/>
          <a:p>
            <a:fld id="{6CD4EE3E-49BF-4850-BEF4-2D267339C10C}" type="datetime1">
              <a:rPr lang="en-IN" smtClean="0"/>
              <a:t>10-03-2023</a:t>
            </a:fld>
            <a:endParaRPr lang="en-IN"/>
          </a:p>
        </p:txBody>
      </p:sp>
      <p:sp>
        <p:nvSpPr>
          <p:cNvPr id="1048696" name="Footer Placeholder 4"/>
          <p:cNvSpPr>
            <a:spLocks noGrp="1"/>
          </p:cNvSpPr>
          <p:nvPr>
            <p:ph type="ftr" sz="quarter" idx="11"/>
          </p:nvPr>
        </p:nvSpPr>
        <p:spPr/>
        <p:txBody>
          <a:bodyPr/>
          <a:lstStyle/>
          <a:p>
            <a:r>
              <a:rPr lang="en-IN"/>
              <a:t>BATCH NO:                   PRESENTED DATE:</a:t>
            </a:r>
          </a:p>
        </p:txBody>
      </p:sp>
      <p:sp>
        <p:nvSpPr>
          <p:cNvPr id="1048697"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1048595" name="Title 1"/>
          <p:cNvSpPr>
            <a:spLocks noGrp="1"/>
          </p:cNvSpPr>
          <p:nvPr>
            <p:ph type="title"/>
          </p:nvPr>
        </p:nvSpPr>
        <p:spPr/>
        <p:txBody>
          <a:bodyPr/>
          <a:lstStyle/>
          <a:p>
            <a:r>
              <a:rPr lang="en-US"/>
              <a:t>Click to edit Master title style</a:t>
            </a:r>
            <a:endParaRPr lang="en-US" dirty="0"/>
          </a:p>
        </p:txBody>
      </p:sp>
      <p:sp>
        <p:nvSpPr>
          <p:cNvPr id="1048596"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597" name="Date Placeholder 3"/>
          <p:cNvSpPr>
            <a:spLocks noGrp="1"/>
          </p:cNvSpPr>
          <p:nvPr>
            <p:ph type="dt" sz="half" idx="10"/>
          </p:nvPr>
        </p:nvSpPr>
        <p:spPr/>
        <p:txBody>
          <a:bodyPr/>
          <a:lstStyle/>
          <a:p>
            <a:fld id="{8F4FA0F5-6424-40BF-B8B7-4C330280225C}" type="datetime1">
              <a:rPr lang="en-IN" smtClean="0"/>
              <a:t>10-03-2023</a:t>
            </a:fld>
            <a:endParaRPr lang="en-IN"/>
          </a:p>
        </p:txBody>
      </p:sp>
      <p:sp>
        <p:nvSpPr>
          <p:cNvPr id="1048598" name="Footer Placeholder 4"/>
          <p:cNvSpPr>
            <a:spLocks noGrp="1"/>
          </p:cNvSpPr>
          <p:nvPr>
            <p:ph type="ftr" sz="quarter" idx="11"/>
          </p:nvPr>
        </p:nvSpPr>
        <p:spPr/>
        <p:txBody>
          <a:bodyPr/>
          <a:lstStyle/>
          <a:p>
            <a:r>
              <a:rPr lang="en-IN"/>
              <a:t>BATCH NO:                   PRESENTED DATE:</a:t>
            </a:r>
          </a:p>
        </p:txBody>
      </p:sp>
      <p:sp>
        <p:nvSpPr>
          <p:cNvPr id="1048599" name="Slide Number Placeholder 5"/>
          <p:cNvSpPr>
            <a:spLocks noGrp="1"/>
          </p:cNvSpPr>
          <p:nvPr>
            <p:ph type="sldNum" sz="quarter" idx="12"/>
          </p:nvPr>
        </p:nvSpPr>
        <p:spPr/>
        <p:txBody>
          <a:bodyPr/>
          <a:lstStyle/>
          <a:p>
            <a:fld id="{669AD40C-E5A7-4132-A31D-54A4D1BB6E8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2097152" name="Picture 2" descr="\\DROBO-FS\QuickDrops\JB\PPTX NG\Droplets\LightingOverlay.png"/>
          <p:cNvPicPr>
            <a:picLocks noChangeAspect="1" noChangeArrowheads="1"/>
          </p:cNvPicPr>
          <p:nvPr/>
        </p:nvPicPr>
        <p:blipFill>
          <a:blip r:embed="rId20">
            <a:alphaModFix/>
          </a:blip>
          <a:srcRect/>
          <a:stretch>
            <a:fillRect/>
          </a:stretch>
        </p:blipFill>
        <p:spPr bwMode="auto">
          <a:xfrm>
            <a:off x="1" y="-1"/>
            <a:ext cx="9144002" cy="6858001"/>
          </a:xfrm>
          <a:prstGeom prst="rect">
            <a:avLst/>
          </a:prstGeom>
          <a:noFill/>
        </p:spPr>
      </p:pic>
      <p:sp>
        <p:nvSpPr>
          <p:cNvPr id="1048576"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48577"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578"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6CD4EE3E-49BF-4850-BEF4-2D267339C10C}" type="datetime1">
              <a:rPr lang="en-IN" smtClean="0"/>
              <a:t>10-03-2023</a:t>
            </a:fld>
            <a:endParaRPr lang="en-IN"/>
          </a:p>
        </p:txBody>
      </p:sp>
      <p:sp>
        <p:nvSpPr>
          <p:cNvPr id="1048579"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r>
              <a:rPr lang="en-IN"/>
              <a:t>BATCH NO:                   PRESENTED DATE:</a:t>
            </a:r>
          </a:p>
        </p:txBody>
      </p:sp>
      <p:sp>
        <p:nvSpPr>
          <p:cNvPr id="1048580"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669AD40C-E5A7-4132-A31D-54A4D1BB6E8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Lst>
  <p:hf hdr="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4" name="Picture 4" descr="Logo VTU"/>
          <p:cNvPicPr>
            <a:picLocks/>
          </p:cNvPicPr>
          <p:nvPr/>
        </p:nvPicPr>
        <p:blipFill>
          <a:blip r:embed="rId3"/>
          <a:srcRect/>
          <a:stretch>
            <a:fillRect/>
          </a:stretch>
        </p:blipFill>
        <p:spPr bwMode="auto">
          <a:xfrm>
            <a:off x="1979711" y="482572"/>
            <a:ext cx="5040557" cy="1008105"/>
          </a:xfrm>
          <a:prstGeom prst="rect">
            <a:avLst/>
          </a:prstGeom>
          <a:noFill/>
          <a:ln>
            <a:noFill/>
          </a:ln>
        </p:spPr>
      </p:pic>
      <p:sp>
        <p:nvSpPr>
          <p:cNvPr id="1048584" name="Rectangle 3"/>
          <p:cNvSpPr/>
          <p:nvPr/>
        </p:nvSpPr>
        <p:spPr>
          <a:xfrm>
            <a:off x="755577" y="1700812"/>
            <a:ext cx="7848874" cy="2339102"/>
          </a:xfrm>
          <a:prstGeom prst="rect">
            <a:avLst/>
          </a:prstGeom>
        </p:spPr>
        <p:txBody>
          <a:bodyPr wrap="square">
            <a:spAutoFit/>
          </a:bodyPr>
          <a:lstStyle/>
          <a:p>
            <a:pPr algn="ctr"/>
            <a:r>
              <a:rPr lang="en-US" sz="1600" b="1" dirty="0">
                <a:latin typeface="Times New Roman"/>
                <a:ea typeface="Verdana"/>
                <a:cs typeface="Times New Roman"/>
              </a:rPr>
              <a:t> </a:t>
            </a:r>
            <a:r>
              <a:rPr lang="en-US" sz="1600" b="1" spc="-25" dirty="0">
                <a:latin typeface="Times New Roman"/>
                <a:cs typeface="Times New Roman"/>
              </a:rPr>
              <a:t>DEPARTMENT </a:t>
            </a:r>
            <a:r>
              <a:rPr lang="en-US" sz="1600" b="1" spc="-5" dirty="0">
                <a:latin typeface="Times New Roman"/>
                <a:cs typeface="Times New Roman"/>
              </a:rPr>
              <a:t>OF </a:t>
            </a:r>
            <a:r>
              <a:rPr lang="en-US" sz="1600" b="1" spc="-125" dirty="0">
                <a:latin typeface="Times New Roman"/>
                <a:cs typeface="Times New Roman"/>
              </a:rPr>
              <a:t> ELECTRONICS </a:t>
            </a:r>
            <a:r>
              <a:rPr lang="en-US" sz="1600" b="1" dirty="0">
                <a:latin typeface="Times New Roman"/>
                <a:cs typeface="Times New Roman"/>
              </a:rPr>
              <a:t>&amp; COMMUNICATION </a:t>
            </a:r>
            <a:r>
              <a:rPr lang="en-US" sz="1600" b="1" spc="-5" dirty="0">
                <a:latin typeface="Times New Roman"/>
                <a:cs typeface="Times New Roman"/>
              </a:rPr>
              <a:t>ENGINEERING </a:t>
            </a:r>
            <a:endParaRPr lang="en-US" sz="1800" b="1" spc="-5" dirty="0">
              <a:latin typeface="Times New Roman"/>
              <a:cs typeface="Times New Roman"/>
            </a:endParaRPr>
          </a:p>
          <a:p>
            <a:pPr algn="ctr"/>
            <a:endParaRPr sz="1600" b="1" dirty="0">
              <a:latin typeface="Times New Roman"/>
              <a:ea typeface="Verdana"/>
              <a:cs typeface="Times New Roman"/>
            </a:endParaRPr>
          </a:p>
          <a:p>
            <a:pPr algn="ctr"/>
            <a:r>
              <a:rPr sz="1600" b="1" dirty="0">
                <a:latin typeface="Times New Roman"/>
                <a:ea typeface="Verdana"/>
                <a:cs typeface="Times New Roman"/>
              </a:rPr>
              <a:t>115</a:t>
            </a:r>
            <a:r>
              <a:rPr lang="en-US" sz="1600" b="1" dirty="0">
                <a:latin typeface="Times New Roman"/>
                <a:ea typeface="Verdana"/>
                <a:cs typeface="Times New Roman"/>
              </a:rPr>
              <a:t>6EC701-MAJOR</a:t>
            </a:r>
            <a:r>
              <a:rPr sz="1600" b="1" dirty="0">
                <a:latin typeface="Times New Roman"/>
                <a:ea typeface="Verdana"/>
                <a:cs typeface="Times New Roman"/>
              </a:rPr>
              <a:t> PROJECT</a:t>
            </a:r>
            <a:endParaRPr lang="en-US" sz="1600" b="1" dirty="0">
              <a:latin typeface="Times New Roman"/>
              <a:ea typeface="Verdana"/>
              <a:cs typeface="Times New Roman"/>
            </a:endParaRPr>
          </a:p>
          <a:p>
            <a:pPr algn="ctr"/>
            <a:endParaRPr sz="1600" b="1" dirty="0">
              <a:latin typeface="Times New Roman"/>
              <a:ea typeface="Verdana"/>
              <a:cs typeface="Times New Roman"/>
            </a:endParaRPr>
          </a:p>
          <a:p>
            <a:pPr algn="ctr"/>
            <a:r>
              <a:rPr lang="en-US" sz="1600" b="1" dirty="0">
                <a:latin typeface="Times New Roman"/>
                <a:ea typeface="Verdana"/>
                <a:cs typeface="Times New Roman"/>
              </a:rPr>
              <a:t>WINTER </a:t>
            </a:r>
            <a:r>
              <a:rPr sz="1600" b="1" dirty="0">
                <a:latin typeface="Times New Roman"/>
                <a:ea typeface="Verdana"/>
                <a:cs typeface="Times New Roman"/>
              </a:rPr>
              <a:t>SEMESTER </a:t>
            </a:r>
            <a:r>
              <a:rPr lang="en-US" sz="1600" b="1" dirty="0">
                <a:latin typeface="Times New Roman"/>
                <a:ea typeface="Verdana"/>
                <a:cs typeface="Times New Roman"/>
              </a:rPr>
              <a:t>(</a:t>
            </a:r>
            <a:r>
              <a:rPr sz="1600" b="1" dirty="0">
                <a:latin typeface="Times New Roman"/>
                <a:ea typeface="Verdana"/>
                <a:cs typeface="Times New Roman"/>
              </a:rPr>
              <a:t>2</a:t>
            </a:r>
            <a:r>
              <a:rPr lang="en-US" sz="1600" b="1" dirty="0">
                <a:latin typeface="Times New Roman"/>
                <a:ea typeface="Verdana"/>
                <a:cs typeface="Times New Roman"/>
              </a:rPr>
              <a:t>022-2023)</a:t>
            </a:r>
            <a:endParaRPr sz="1600" b="1" dirty="0">
              <a:latin typeface="Times New Roman"/>
              <a:ea typeface="Verdana"/>
              <a:cs typeface="Times New Roman"/>
            </a:endParaRPr>
          </a:p>
          <a:p>
            <a:pPr algn="ctr"/>
            <a:endParaRPr lang="en-US" sz="1600" b="1" dirty="0">
              <a:latin typeface="Times New Roman"/>
              <a:ea typeface="Verdana"/>
              <a:cs typeface="Times New Roman"/>
            </a:endParaRPr>
          </a:p>
          <a:p>
            <a:pPr algn="ctr"/>
            <a:r>
              <a:rPr lang="en-US" sz="1600" b="1" dirty="0">
                <a:latin typeface="Times New Roman"/>
                <a:ea typeface="Verdana"/>
                <a:cs typeface="Times New Roman"/>
              </a:rPr>
              <a:t>FIRST </a:t>
            </a:r>
            <a:r>
              <a:rPr sz="1600" b="1" dirty="0">
                <a:latin typeface="Times New Roman"/>
                <a:ea typeface="Verdana"/>
                <a:cs typeface="Times New Roman"/>
              </a:rPr>
              <a:t>REVIEW </a:t>
            </a:r>
            <a:endParaRPr lang="en-US" sz="1600" b="1" dirty="0">
              <a:latin typeface="Times New Roman"/>
              <a:ea typeface="Verdana"/>
              <a:cs typeface="Times New Roman"/>
            </a:endParaRPr>
          </a:p>
          <a:p>
            <a:pPr algn="ctr"/>
            <a:endParaRPr sz="1600" dirty="0">
              <a:latin typeface="Times New Roman"/>
              <a:ea typeface="Verdana"/>
              <a:cs typeface="Times New Roman"/>
            </a:endParaRPr>
          </a:p>
          <a:p>
            <a:pPr algn="ctr"/>
            <a:endParaRPr dirty="0"/>
          </a:p>
        </p:txBody>
      </p:sp>
      <p:sp>
        <p:nvSpPr>
          <p:cNvPr id="1048585" name="Rectangle 6"/>
          <p:cNvSpPr/>
          <p:nvPr/>
        </p:nvSpPr>
        <p:spPr>
          <a:xfrm>
            <a:off x="557812" y="3362794"/>
            <a:ext cx="7848874" cy="1015663"/>
          </a:xfrm>
          <a:prstGeom prst="rect">
            <a:avLst/>
          </a:prstGeom>
        </p:spPr>
        <p:txBody>
          <a:bodyPr wrap="square">
            <a:spAutoFit/>
          </a:bodyPr>
          <a:lstStyle/>
          <a:p>
            <a:pPr algn="ctr"/>
            <a:endParaRPr lang="en-US" sz="2000" b="1" dirty="0">
              <a:latin typeface="Times New Roman"/>
              <a:cs typeface="Times New Roman"/>
            </a:endParaRPr>
          </a:p>
          <a:p>
            <a:pPr algn="ctr"/>
            <a:r>
              <a:rPr sz="2000" b="1" dirty="0">
                <a:latin typeface="Times New Roman"/>
                <a:cs typeface="Times New Roman"/>
              </a:rPr>
              <a:t>“</a:t>
            </a:r>
            <a:r>
              <a:rPr lang="en-US" sz="2000" b="1" dirty="0">
                <a:latin typeface="Times New Roman"/>
                <a:cs typeface="Times New Roman"/>
              </a:rPr>
              <a:t>DESIGN AND DEVELOPEMENT OF AI DRIVEN E NOSE SYSTEM FOR QUALITY ANALYSIS IN APPLE</a:t>
            </a:r>
            <a:r>
              <a:rPr sz="2000" b="1" dirty="0">
                <a:latin typeface="Times New Roman"/>
                <a:cs typeface="Times New Roman"/>
              </a:rPr>
              <a:t>”</a:t>
            </a:r>
            <a:endParaRPr sz="2000" dirty="0"/>
          </a:p>
        </p:txBody>
      </p:sp>
      <p:sp>
        <p:nvSpPr>
          <p:cNvPr id="1048586" name="Rectangle 7"/>
          <p:cNvSpPr/>
          <p:nvPr/>
        </p:nvSpPr>
        <p:spPr>
          <a:xfrm>
            <a:off x="3581404" y="4869163"/>
            <a:ext cx="5346566" cy="1169551"/>
          </a:xfrm>
          <a:prstGeom prst="rect">
            <a:avLst/>
          </a:prstGeom>
        </p:spPr>
        <p:txBody>
          <a:bodyPr wrap="square">
            <a:spAutoFit/>
          </a:bodyPr>
          <a:lstStyle/>
          <a:p>
            <a:r>
              <a:rPr sz="1400" b="1" dirty="0">
                <a:latin typeface="Times New Roman"/>
                <a:cs typeface="Times New Roman"/>
              </a:rPr>
              <a:t>PRESENTED BY</a:t>
            </a:r>
          </a:p>
          <a:p>
            <a:pPr algn="ctr"/>
            <a:endParaRPr sz="1400" b="1" dirty="0">
              <a:latin typeface="Times New Roman"/>
              <a:cs typeface="Times New Roman"/>
            </a:endParaRPr>
          </a:p>
          <a:p>
            <a:pPr algn="just"/>
            <a:r>
              <a:rPr sz="1400" b="1" dirty="0">
                <a:latin typeface="Times New Roman"/>
                <a:cs typeface="Times New Roman"/>
              </a:rPr>
              <a:t>1.</a:t>
            </a:r>
            <a:r>
              <a:rPr lang="en-US" sz="1400" b="1" dirty="0">
                <a:latin typeface="Times New Roman"/>
                <a:cs typeface="Times New Roman"/>
              </a:rPr>
              <a:t>K.V.SASI KIRAN REDDY</a:t>
            </a:r>
            <a:r>
              <a:rPr sz="1400" b="1" dirty="0">
                <a:latin typeface="Times New Roman"/>
                <a:cs typeface="Times New Roman"/>
              </a:rPr>
              <a:t>	               </a:t>
            </a:r>
            <a:r>
              <a:rPr lang="en-US" sz="1400" b="1" dirty="0">
                <a:latin typeface="Times New Roman"/>
                <a:cs typeface="Times New Roman"/>
              </a:rPr>
              <a:t> </a:t>
            </a:r>
            <a:r>
              <a:rPr sz="1400" b="1" dirty="0">
                <a:latin typeface="Times New Roman"/>
                <a:cs typeface="Times New Roman"/>
              </a:rPr>
              <a:t>(11</a:t>
            </a:r>
            <a:r>
              <a:rPr lang="en-US" sz="1400" b="1" dirty="0">
                <a:latin typeface="Times New Roman"/>
                <a:cs typeface="Times New Roman"/>
              </a:rPr>
              <a:t>572</a:t>
            </a:r>
            <a:r>
              <a:rPr sz="1400" b="1" dirty="0">
                <a:latin typeface="Times New Roman"/>
                <a:cs typeface="Times New Roman"/>
              </a:rPr>
              <a:t>)(19UE</a:t>
            </a:r>
            <a:r>
              <a:rPr lang="en-US" sz="1400" b="1" dirty="0">
                <a:latin typeface="Times New Roman"/>
                <a:cs typeface="Times New Roman"/>
              </a:rPr>
              <a:t>EC0272</a:t>
            </a:r>
            <a:r>
              <a:rPr sz="1400" b="1" dirty="0">
                <a:latin typeface="Times New Roman"/>
                <a:cs typeface="Times New Roman"/>
              </a:rPr>
              <a:t>)</a:t>
            </a:r>
          </a:p>
          <a:p>
            <a:pPr algn="just"/>
            <a:r>
              <a:rPr sz="1400" b="1" dirty="0">
                <a:latin typeface="Times New Roman"/>
                <a:cs typeface="Times New Roman"/>
              </a:rPr>
              <a:t>2. </a:t>
            </a:r>
            <a:r>
              <a:rPr lang="en-US" sz="1400" b="1" dirty="0">
                <a:latin typeface="Times New Roman"/>
                <a:cs typeface="Times New Roman"/>
              </a:rPr>
              <a:t>Y.V.SRI CHARAN REDDY</a:t>
            </a:r>
            <a:r>
              <a:rPr sz="1400" b="1" dirty="0">
                <a:latin typeface="Times New Roman"/>
                <a:cs typeface="Times New Roman"/>
              </a:rPr>
              <a:t>	          </a:t>
            </a:r>
            <a:r>
              <a:rPr lang="en-US" sz="1400" b="1" dirty="0">
                <a:latin typeface="Times New Roman"/>
                <a:cs typeface="Times New Roman"/>
              </a:rPr>
              <a:t>      </a:t>
            </a:r>
            <a:r>
              <a:rPr sz="1400" b="1" dirty="0">
                <a:latin typeface="Times New Roman"/>
                <a:cs typeface="Times New Roman"/>
              </a:rPr>
              <a:t>(1</a:t>
            </a:r>
            <a:r>
              <a:rPr lang="en-US" sz="1400" b="1" dirty="0">
                <a:latin typeface="Times New Roman"/>
                <a:cs typeface="Times New Roman"/>
              </a:rPr>
              <a:t>1823</a:t>
            </a:r>
            <a:r>
              <a:rPr sz="1400" b="1" dirty="0">
                <a:latin typeface="Times New Roman"/>
                <a:cs typeface="Times New Roman"/>
              </a:rPr>
              <a:t>)(19UE</a:t>
            </a:r>
            <a:r>
              <a:rPr lang="en-US" sz="1400" b="1" dirty="0">
                <a:latin typeface="Times New Roman"/>
                <a:cs typeface="Times New Roman"/>
              </a:rPr>
              <a:t>EC0630</a:t>
            </a:r>
            <a:r>
              <a:rPr sz="1400" b="1" dirty="0">
                <a:latin typeface="Times New Roman"/>
                <a:cs typeface="Times New Roman"/>
              </a:rPr>
              <a:t>)</a:t>
            </a:r>
          </a:p>
          <a:p>
            <a:pPr algn="just"/>
            <a:r>
              <a:rPr sz="1400" b="1" dirty="0">
                <a:latin typeface="Times New Roman"/>
                <a:cs typeface="Times New Roman"/>
              </a:rPr>
              <a:t>3. Y</a:t>
            </a:r>
            <a:r>
              <a:rPr lang="en-US" sz="1400" b="1" dirty="0">
                <a:latin typeface="Times New Roman"/>
                <a:cs typeface="Times New Roman"/>
              </a:rPr>
              <a:t>.MAHESWARAREDDY</a:t>
            </a:r>
            <a:r>
              <a:rPr sz="1400" b="1" dirty="0">
                <a:latin typeface="Times New Roman"/>
                <a:cs typeface="Times New Roman"/>
              </a:rPr>
              <a:t>	     </a:t>
            </a:r>
            <a:r>
              <a:rPr lang="en-US" sz="1400" b="1" dirty="0">
                <a:latin typeface="Times New Roman"/>
                <a:cs typeface="Times New Roman"/>
              </a:rPr>
              <a:t>           (</a:t>
            </a:r>
            <a:r>
              <a:rPr sz="1400" b="1" dirty="0">
                <a:latin typeface="Times New Roman"/>
                <a:cs typeface="Times New Roman"/>
              </a:rPr>
              <a:t>11</a:t>
            </a:r>
            <a:r>
              <a:rPr lang="en-US" sz="1400" b="1" dirty="0">
                <a:latin typeface="Times New Roman"/>
                <a:cs typeface="Times New Roman"/>
              </a:rPr>
              <a:t>571</a:t>
            </a:r>
            <a:r>
              <a:rPr sz="1400" b="1" dirty="0">
                <a:latin typeface="Times New Roman"/>
                <a:cs typeface="Times New Roman"/>
              </a:rPr>
              <a:t>)(19UE</a:t>
            </a:r>
            <a:r>
              <a:rPr lang="en-US" sz="1400" b="1" dirty="0">
                <a:latin typeface="Times New Roman"/>
                <a:cs typeface="Times New Roman"/>
              </a:rPr>
              <a:t>EC0645</a:t>
            </a:r>
            <a:r>
              <a:rPr sz="1400" b="1" dirty="0">
                <a:latin typeface="Times New Roman"/>
                <a:cs typeface="Times New Roman"/>
              </a:rPr>
              <a:t>)</a:t>
            </a:r>
            <a:endParaRPr lang="zh-CN" altLang="en-US" dirty="0"/>
          </a:p>
        </p:txBody>
      </p:sp>
      <p:sp>
        <p:nvSpPr>
          <p:cNvPr id="1048587" name="Rectangle 8"/>
          <p:cNvSpPr/>
          <p:nvPr/>
        </p:nvSpPr>
        <p:spPr>
          <a:xfrm>
            <a:off x="557812" y="4869163"/>
            <a:ext cx="2843812" cy="954107"/>
          </a:xfrm>
          <a:prstGeom prst="rect">
            <a:avLst/>
          </a:prstGeom>
        </p:spPr>
        <p:txBody>
          <a:bodyPr wrap="square">
            <a:spAutoFit/>
          </a:bodyPr>
          <a:lstStyle/>
          <a:p>
            <a:r>
              <a:rPr sz="1400" b="1" dirty="0">
                <a:latin typeface="Times New Roman"/>
                <a:cs typeface="Times New Roman"/>
              </a:rPr>
              <a:t>SUPERVISED BY</a:t>
            </a:r>
          </a:p>
          <a:p>
            <a:endParaRPr sz="1400" b="1" dirty="0">
              <a:latin typeface="Times New Roman"/>
              <a:cs typeface="Times New Roman"/>
            </a:endParaRPr>
          </a:p>
          <a:p>
            <a:r>
              <a:rPr sz="1400" b="1" dirty="0" err="1">
                <a:latin typeface="Times New Roman"/>
                <a:cs typeface="Times New Roman"/>
              </a:rPr>
              <a:t>Dr.</a:t>
            </a:r>
            <a:r>
              <a:rPr lang="en-US" sz="1400" b="1" dirty="0" err="1">
                <a:latin typeface="Times New Roman"/>
                <a:cs typeface="Times New Roman"/>
              </a:rPr>
              <a:t>E.D</a:t>
            </a:r>
            <a:r>
              <a:rPr lang="en-US" sz="1400" b="1" dirty="0">
                <a:latin typeface="Times New Roman"/>
                <a:cs typeface="Times New Roman"/>
              </a:rPr>
              <a:t> KANMANI RUBY</a:t>
            </a:r>
            <a:endParaRPr sz="1400" b="1" dirty="0">
              <a:latin typeface="Times New Roman"/>
              <a:cs typeface="Times New Roman"/>
            </a:endParaRPr>
          </a:p>
          <a:p>
            <a:r>
              <a:rPr sz="1400" b="1" dirty="0">
                <a:latin typeface="Times New Roman"/>
                <a:cs typeface="Times New Roman"/>
              </a:rPr>
              <a:t>Prof</a:t>
            </a:r>
            <a:r>
              <a:rPr lang="en-US" sz="1400" b="1" dirty="0">
                <a:latin typeface="Times New Roman"/>
                <a:cs typeface="Times New Roman"/>
              </a:rPr>
              <a:t>essor</a:t>
            </a:r>
            <a:endParaRPr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itle 1"/>
          <p:cNvSpPr txBox="1"/>
          <p:nvPr/>
        </p:nvSpPr>
        <p:spPr>
          <a:xfrm>
            <a:off x="457200" y="609600"/>
            <a:ext cx="82296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600" b="1" dirty="0">
                <a:latin typeface="Times New Roman"/>
                <a:cs typeface="Times New Roman"/>
              </a:rPr>
              <a:t>TABLE OF CONTENTS</a:t>
            </a:r>
            <a:endParaRPr sz="2600" b="1" dirty="0">
              <a:latin typeface="Times New Roman"/>
              <a:cs typeface="Times New Roman"/>
            </a:endParaRPr>
          </a:p>
        </p:txBody>
      </p:sp>
      <p:sp>
        <p:nvSpPr>
          <p:cNvPr id="1048594" name="Content Placeholder 2"/>
          <p:cNvSpPr txBox="1"/>
          <p:nvPr/>
        </p:nvSpPr>
        <p:spPr>
          <a:xfrm>
            <a:off x="762000" y="1447800"/>
            <a:ext cx="7620000" cy="4495800"/>
          </a:xfrm>
          <a:prstGeom prst="rect">
            <a:avLst/>
          </a:prstGeom>
        </p:spPr>
        <p:txBody>
          <a:bodyPr>
            <a:normAutofit fontScale="6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endParaRPr lang="en-US" sz="2400" dirty="0">
              <a:latin typeface="Times New Roman"/>
              <a:cs typeface="Times New Roman"/>
            </a:endParaRPr>
          </a:p>
          <a:p>
            <a:pPr>
              <a:lnSpc>
                <a:spcPct val="150000"/>
              </a:lnSpc>
            </a:pPr>
            <a:r>
              <a:rPr lang="en-US" sz="2400" dirty="0">
                <a:latin typeface="Times New Roman"/>
                <a:cs typeface="Times New Roman"/>
              </a:rPr>
              <a:t>ABSTRACT </a:t>
            </a:r>
          </a:p>
          <a:p>
            <a:pPr>
              <a:lnSpc>
                <a:spcPct val="150000"/>
              </a:lnSpc>
            </a:pPr>
            <a:r>
              <a:rPr lang="en-US" sz="2400" dirty="0">
                <a:latin typeface="Times New Roman"/>
                <a:cs typeface="Times New Roman"/>
              </a:rPr>
              <a:t>INTRODUCTION</a:t>
            </a:r>
          </a:p>
          <a:p>
            <a:pPr>
              <a:lnSpc>
                <a:spcPct val="150000"/>
              </a:lnSpc>
            </a:pPr>
            <a:r>
              <a:rPr lang="en-US" sz="2400" dirty="0">
                <a:latin typeface="Times New Roman"/>
                <a:cs typeface="Times New Roman"/>
              </a:rPr>
              <a:t>LITAREATURE SURVEY</a:t>
            </a:r>
          </a:p>
          <a:p>
            <a:pPr>
              <a:lnSpc>
                <a:spcPct val="150000"/>
              </a:lnSpc>
            </a:pPr>
            <a:r>
              <a:rPr lang="en-US" sz="2400" dirty="0">
                <a:latin typeface="Times New Roman"/>
                <a:cs typeface="Times New Roman"/>
              </a:rPr>
              <a:t>OBJECTIVE</a:t>
            </a:r>
          </a:p>
          <a:p>
            <a:pPr>
              <a:lnSpc>
                <a:spcPct val="150000"/>
              </a:lnSpc>
            </a:pPr>
            <a:r>
              <a:rPr lang="en-US" sz="2400" dirty="0">
                <a:latin typeface="Times New Roman"/>
                <a:cs typeface="Times New Roman"/>
              </a:rPr>
              <a:t>BLOCK DIAGRAM</a:t>
            </a:r>
          </a:p>
          <a:p>
            <a:pPr>
              <a:lnSpc>
                <a:spcPct val="150000"/>
              </a:lnSpc>
            </a:pPr>
            <a:r>
              <a:rPr lang="en-US" sz="2400" dirty="0">
                <a:latin typeface="Times New Roman"/>
                <a:cs typeface="Times New Roman"/>
              </a:rPr>
              <a:t>METHODOLOGY </a:t>
            </a:r>
          </a:p>
          <a:p>
            <a:pPr>
              <a:lnSpc>
                <a:spcPct val="150000"/>
              </a:lnSpc>
            </a:pPr>
            <a:r>
              <a:rPr lang="en-US" sz="2400" dirty="0">
                <a:latin typeface="Times New Roman"/>
                <a:cs typeface="Times New Roman"/>
              </a:rPr>
              <a:t>TIME PLAN</a:t>
            </a:r>
          </a:p>
          <a:p>
            <a:pPr>
              <a:lnSpc>
                <a:spcPct val="150000"/>
              </a:lnSpc>
            </a:pPr>
            <a:r>
              <a:rPr lang="en-US" sz="2400" dirty="0">
                <a:latin typeface="Times New Roman"/>
                <a:cs typeface="Times New Roman"/>
              </a:rPr>
              <a:t>CONCLUSION</a:t>
            </a:r>
          </a:p>
          <a:p>
            <a:pPr>
              <a:lnSpc>
                <a:spcPct val="150000"/>
              </a:lnSpc>
            </a:pPr>
            <a:r>
              <a:rPr lang="en-US" sz="2400" dirty="0">
                <a:latin typeface="Times New Roman"/>
                <a:cs typeface="Times New Roman"/>
              </a:rPr>
              <a:t>FUTURE WORK</a:t>
            </a:r>
          </a:p>
          <a:p>
            <a:pPr>
              <a:lnSpc>
                <a:spcPct val="150000"/>
              </a:lnSpc>
            </a:pPr>
            <a:r>
              <a:rPr lang="en-US" sz="2400" dirty="0">
                <a:latin typeface="Times New Roman"/>
                <a:cs typeface="Times New Roman"/>
              </a:rPr>
              <a:t>REFERENCES</a:t>
            </a:r>
          </a:p>
          <a:p>
            <a:pPr>
              <a:lnSpc>
                <a:spcPct val="150000"/>
              </a:lnSpc>
            </a:pPr>
            <a:endParaRPr sz="2400" dirty="0">
              <a:latin typeface="Times New Roman"/>
              <a:cs typeface="Times New Roman"/>
            </a:endParaRPr>
          </a:p>
          <a:p>
            <a:endParaRPr sz="2000" dirty="0">
              <a:latin typeface="Times New Roman"/>
              <a:cs typeface="Times New Roman"/>
            </a:endParaRPr>
          </a:p>
          <a:p>
            <a:endParaRPr sz="2000" dirty="0">
              <a:latin typeface="Times New Roman"/>
              <a:cs typeface="Times New Roman"/>
            </a:endParaRPr>
          </a:p>
          <a:p>
            <a:endParaRPr sz="2000" dirty="0">
              <a:latin typeface="Times New Roman"/>
              <a:cs typeface="Times New Roman"/>
            </a:endParaRPr>
          </a:p>
          <a:p>
            <a:endParaRPr sz="20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a:xfrm>
            <a:off x="457200" y="76200"/>
            <a:ext cx="8229600" cy="1039094"/>
          </a:xfrm>
        </p:spPr>
        <p:txBody>
          <a:bodyPr>
            <a:normAutofit/>
          </a:bodyPr>
          <a:lstStyle/>
          <a:p>
            <a:r>
              <a:rPr sz="2600" b="1" dirty="0">
                <a:latin typeface="Times New Roman"/>
                <a:cs typeface="Times New Roman"/>
              </a:rPr>
              <a:t>ABSTRACT</a:t>
            </a:r>
          </a:p>
        </p:txBody>
      </p:sp>
      <p:sp>
        <p:nvSpPr>
          <p:cNvPr id="1048601" name="Content Placeholder 2"/>
          <p:cNvSpPr>
            <a:spLocks noGrp="1"/>
          </p:cNvSpPr>
          <p:nvPr>
            <p:ph idx="1"/>
          </p:nvPr>
        </p:nvSpPr>
        <p:spPr>
          <a:xfrm>
            <a:off x="304800" y="990600"/>
            <a:ext cx="8229600" cy="5339916"/>
          </a:xfrm>
        </p:spPr>
        <p:txBody>
          <a:bodyPr>
            <a:noAutofit/>
          </a:bodyPr>
          <a:lstStyle/>
          <a:p>
            <a:pPr marL="0" indent="0">
              <a:buNone/>
            </a:pPr>
            <a:r>
              <a:rPr lang="en-US" sz="1800" cap="none" dirty="0">
                <a:latin typeface="Times New Roman"/>
                <a:cs typeface="Times New Roman"/>
              </a:rPr>
              <a:t> </a:t>
            </a:r>
          </a:p>
          <a:p>
            <a:pPr marL="0" indent="0" algn="just">
              <a:buNone/>
            </a:pPr>
            <a:r>
              <a:rPr lang="en-US" sz="1800" cap="none" dirty="0">
                <a:latin typeface="Times New Roman"/>
                <a:cs typeface="Times New Roman"/>
              </a:rPr>
              <a:t>                </a:t>
            </a:r>
            <a:r>
              <a:rPr lang="en-IN" sz="1800" cap="none" dirty="0">
                <a:latin typeface="Times New Roman" panose="02020603050405020304" pitchFamily="18" charset="0"/>
                <a:cs typeface="Times New Roman" panose="02020603050405020304" pitchFamily="18" charset="0"/>
              </a:rPr>
              <a:t>Food spoilage is a significant problem in the food industry, causing significant economic losses and posing health risks to consumers. One common type of food spoilage is the decay of fresh fruits such as apples, which can be caused by a variety of factors, including microbial growth, physical damage, and exposure to oxygen. In this project, we propose the use of artificial intelligence (AI) to develop a system for the detection of fresh and rotten apples in the food industry. </a:t>
            </a:r>
          </a:p>
          <a:p>
            <a:pPr marL="0" indent="0" algn="just">
              <a:buNone/>
            </a:pPr>
            <a:r>
              <a:rPr lang="en-IN" sz="1800" cap="none" dirty="0">
                <a:latin typeface="Times New Roman" panose="02020603050405020304" pitchFamily="18" charset="0"/>
                <a:cs typeface="Times New Roman" panose="02020603050405020304" pitchFamily="18" charset="0"/>
              </a:rPr>
              <a:t>                 The system will use machine learning algorithms to analyse images of apples and classify them as fresh or rotten based on their visual appearance. The system will be developed using a dataset of images of apples, both fresh and rotten, that have been collected from different sources in the food industry. The model, which will learn to classify apples based on their visual features. After that depends on sensor based reading signals output decision will be taken. </a:t>
            </a: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cap="none"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Title 1"/>
          <p:cNvSpPr>
            <a:spLocks noGrp="1"/>
          </p:cNvSpPr>
          <p:nvPr>
            <p:ph type="title"/>
          </p:nvPr>
        </p:nvSpPr>
        <p:spPr>
          <a:xfrm>
            <a:off x="685332" y="574451"/>
            <a:ext cx="7773338" cy="981682"/>
          </a:xfrm>
        </p:spPr>
        <p:txBody>
          <a:bodyPr>
            <a:normAutofit/>
          </a:bodyPr>
          <a:lstStyle/>
          <a:p>
            <a:r>
              <a:rPr lang="en-US" sz="2600" b="1" dirty="0">
                <a:latin typeface="Times New Roman" panose="02020603050405020304" pitchFamily="18" charset="0"/>
                <a:cs typeface="Times New Roman" panose="02020603050405020304" pitchFamily="18" charset="0"/>
              </a:rPr>
              <a:t>INTRODUCTION</a:t>
            </a:r>
          </a:p>
        </p:txBody>
      </p:sp>
      <p:sp>
        <p:nvSpPr>
          <p:cNvPr id="1048605" name="Content Placeholder 2"/>
          <p:cNvSpPr>
            <a:spLocks noGrp="1"/>
          </p:cNvSpPr>
          <p:nvPr>
            <p:ph idx="1"/>
          </p:nvPr>
        </p:nvSpPr>
        <p:spPr>
          <a:xfrm>
            <a:off x="381000" y="1796667"/>
            <a:ext cx="8610600" cy="4158622"/>
          </a:xfrm>
        </p:spPr>
        <p:txBody>
          <a:bodyPr>
            <a:normAutofit fontScale="87237" lnSpcReduction="10000"/>
          </a:bodyPr>
          <a:lstStyle/>
          <a:p>
            <a:pPr marL="285750" indent="-285750" algn="just">
              <a:buFont typeface="Wingdings" panose="05000000000000000000" pitchFamily="2" charset="2"/>
              <a:buChar char="Ø"/>
            </a:pPr>
            <a:r>
              <a:rPr lang="en-US" sz="2300" cap="none" dirty="0">
                <a:latin typeface="Times New Roman" panose="02020603050405020304" pitchFamily="18" charset="0"/>
                <a:cs typeface="Times New Roman" panose="02020603050405020304" pitchFamily="18" charset="0"/>
              </a:rPr>
              <a:t> To revolutionize the food industry by providing a more efficient and accurate method for detecting food spoilage.</a:t>
            </a:r>
          </a:p>
          <a:p>
            <a:pPr marL="285750" indent="-285750" algn="just">
              <a:buFont typeface="Wingdings" panose="05000000000000000000" pitchFamily="2" charset="2"/>
              <a:buChar char="Ø"/>
            </a:pPr>
            <a:r>
              <a:rPr lang="en-US" sz="2300" cap="none" dirty="0">
                <a:latin typeface="Times New Roman" panose="02020603050405020304" pitchFamily="18" charset="0"/>
                <a:cs typeface="Times New Roman" panose="02020603050405020304" pitchFamily="18" charset="0"/>
              </a:rPr>
              <a:t> By identifying rotten apples early in the supply chain, food waste can be reduced, and the risk of foodborne illness can be minimized. Additionally, the system can provide valuable information to food producers and retailers about the quality of their products, allowing for better decision-making and increased customer satisfaction. </a:t>
            </a:r>
          </a:p>
          <a:p>
            <a:pPr marL="285750" indent="-285750" algn="just">
              <a:buFont typeface="Wingdings" panose="05000000000000000000" pitchFamily="2" charset="2"/>
              <a:buChar char="Ø"/>
            </a:pPr>
            <a:r>
              <a:rPr lang="en-US" sz="2300" cap="none" dirty="0">
                <a:latin typeface="Times New Roman" panose="02020603050405020304" pitchFamily="18" charset="0"/>
                <a:cs typeface="Times New Roman" panose="02020603050405020304" pitchFamily="18" charset="0"/>
              </a:rPr>
              <a:t>Overall, this project demonstrates the potential of AI and machine learning in addressing critical challenges in the food industry, such as food spoilage detection, and has significant implications for improving food safety and reducing waste.</a:t>
            </a:r>
          </a:p>
          <a:p>
            <a:pPr marL="285750" indent="-285750" algn="just">
              <a:buFont typeface="Wingdings" panose="05000000000000000000" pitchFamily="2" charset="2"/>
              <a:buChar char="Ø"/>
            </a:pPr>
            <a:endParaRPr lang="en-US" sz="1900" cap="none" dirty="0">
              <a:latin typeface="Times New Roman" panose="02020603050405020304" pitchFamily="18" charset="0"/>
              <a:cs typeface="Times New Roman" panose="02020603050405020304" pitchFamily="18" charset="0"/>
            </a:endParaRPr>
          </a:p>
          <a:p>
            <a:endParaRPr lang="en-US" dirty="0"/>
          </a:p>
        </p:txBody>
      </p:sp>
      <p:sp>
        <p:nvSpPr>
          <p:cNvPr id="1048606" name="Date Placeholder 3"/>
          <p:cNvSpPr>
            <a:spLocks noGrp="1"/>
          </p:cNvSpPr>
          <p:nvPr>
            <p:ph type="dt" sz="half" idx="10"/>
          </p:nvPr>
        </p:nvSpPr>
        <p:spPr/>
        <p:txBody>
          <a:bodyPr/>
          <a:lstStyle/>
          <a:p>
            <a:fld id="{8F4FA0F5-6424-40BF-B8B7-4C330280225C}" type="datetime1">
              <a:rPr lang="en-IN" smtClean="0"/>
              <a:t>10-03-2023</a:t>
            </a:fld>
            <a:endParaRPr lang="en-IN"/>
          </a:p>
        </p:txBody>
      </p:sp>
      <p:sp>
        <p:nvSpPr>
          <p:cNvPr id="1048607" name="Footer Placeholder 4"/>
          <p:cNvSpPr>
            <a:spLocks noGrp="1"/>
          </p:cNvSpPr>
          <p:nvPr>
            <p:ph type="ftr" sz="quarter" idx="11"/>
          </p:nvPr>
        </p:nvSpPr>
        <p:spPr/>
        <p:txBody>
          <a:bodyPr/>
          <a:lstStyle/>
          <a:p>
            <a:r>
              <a:rPr lang="en-IN"/>
              <a:t>BATCH NO:                   PRESENTED DATE:</a:t>
            </a:r>
          </a:p>
        </p:txBody>
      </p:sp>
      <p:sp>
        <p:nvSpPr>
          <p:cNvPr id="1048608" name="Slide Number Placeholder 5"/>
          <p:cNvSpPr>
            <a:spLocks noGrp="1"/>
          </p:cNvSpPr>
          <p:nvPr>
            <p:ph type="sldNum" sz="quarter" idx="12"/>
          </p:nvPr>
        </p:nvSpPr>
        <p:spPr/>
        <p:txBody>
          <a:bodyPr/>
          <a:lstStyle/>
          <a:p>
            <a:fld id="{669AD40C-E5A7-4132-A31D-54A4D1BB6E89}"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itle 1"/>
          <p:cNvSpPr>
            <a:spLocks noGrp="1"/>
          </p:cNvSpPr>
          <p:nvPr>
            <p:ph type="title"/>
          </p:nvPr>
        </p:nvSpPr>
        <p:spPr>
          <a:xfrm>
            <a:off x="685332" y="381000"/>
            <a:ext cx="7773338" cy="1596177"/>
          </a:xfrm>
        </p:spPr>
        <p:txBody>
          <a:bodyPr>
            <a:normAutofit/>
          </a:bodyPr>
          <a:lstStyle/>
          <a:p>
            <a:r>
              <a:rPr sz="2600" b="1" dirty="0">
                <a:latin typeface="Times New Roman"/>
                <a:cs typeface="Times New Roman"/>
              </a:rPr>
              <a:t>LITERATURE REVIEW</a:t>
            </a:r>
            <a:endParaRPr sz="2600" dirty="0"/>
          </a:p>
        </p:txBody>
      </p:sp>
      <p:sp>
        <p:nvSpPr>
          <p:cNvPr id="1048622" name="Content Placeholder 2"/>
          <p:cNvSpPr>
            <a:spLocks noGrp="1"/>
          </p:cNvSpPr>
          <p:nvPr>
            <p:ph idx="1"/>
          </p:nvPr>
        </p:nvSpPr>
        <p:spPr/>
        <p:txBody>
          <a:bodyPr>
            <a:normAutofit/>
          </a:bodyPr>
          <a:lstStyle/>
          <a:p>
            <a:pPr marL="0" indent="0" algn="just">
              <a:buNone/>
            </a:pPr>
            <a:r>
              <a:rPr sz="1800" b="1" dirty="0">
                <a:latin typeface="Times New Roman"/>
                <a:cs typeface="Times New Roman"/>
              </a:rPr>
              <a:t>	</a:t>
            </a:r>
            <a:endParaRPr sz="1800" dirty="0">
              <a:latin typeface="Times New Roman"/>
              <a:cs typeface="Times New Roman"/>
            </a:endParaRPr>
          </a:p>
        </p:txBody>
      </p:sp>
      <p:graphicFrame>
        <p:nvGraphicFramePr>
          <p:cNvPr id="4194304" name="Table 6"/>
          <p:cNvGraphicFramePr>
            <a:graphicFrameLocks noGrp="1"/>
          </p:cNvGraphicFramePr>
          <p:nvPr/>
        </p:nvGraphicFramePr>
        <p:xfrm>
          <a:off x="304800" y="1871794"/>
          <a:ext cx="8610599" cy="4414706"/>
        </p:xfrm>
        <a:graphic>
          <a:graphicData uri="http://schemas.openxmlformats.org/drawingml/2006/table">
            <a:tbl>
              <a:tblPr firstRow="1" bandRow="1">
                <a:tableStyleId>{5C22544A-7EE6-4342-B048-85BDC9FD1C3A}</a:tableStyleId>
              </a:tblPr>
              <a:tblGrid>
                <a:gridCol w="691923">
                  <a:extLst>
                    <a:ext uri="{9D8B030D-6E8A-4147-A177-3AD203B41FA5}">
                      <a16:colId xmlns:a16="http://schemas.microsoft.com/office/drawing/2014/main" val="20000"/>
                    </a:ext>
                  </a:extLst>
                </a:gridCol>
                <a:gridCol w="1998889">
                  <a:extLst>
                    <a:ext uri="{9D8B030D-6E8A-4147-A177-3AD203B41FA5}">
                      <a16:colId xmlns:a16="http://schemas.microsoft.com/office/drawing/2014/main" val="20001"/>
                    </a:ext>
                  </a:extLst>
                </a:gridCol>
                <a:gridCol w="2414588">
                  <a:extLst>
                    <a:ext uri="{9D8B030D-6E8A-4147-A177-3AD203B41FA5}">
                      <a16:colId xmlns:a16="http://schemas.microsoft.com/office/drawing/2014/main" val="20002"/>
                    </a:ext>
                  </a:extLst>
                </a:gridCol>
                <a:gridCol w="3505199">
                  <a:extLst>
                    <a:ext uri="{9D8B030D-6E8A-4147-A177-3AD203B41FA5}">
                      <a16:colId xmlns:a16="http://schemas.microsoft.com/office/drawing/2014/main" val="20003"/>
                    </a:ext>
                  </a:extLst>
                </a:gridCol>
              </a:tblGrid>
              <a:tr h="672774">
                <a:tc>
                  <a:txBody>
                    <a:bodyPr/>
                    <a:lstStyle/>
                    <a:p>
                      <a:r>
                        <a:rPr lang="en-US" dirty="0"/>
                        <a:t>S.NO</a:t>
                      </a:r>
                    </a:p>
                  </a:txBody>
                  <a:tcPr/>
                </a:tc>
                <a:tc>
                  <a:txBody>
                    <a:bodyPr/>
                    <a:lstStyle/>
                    <a:p>
                      <a:r>
                        <a:rPr lang="en-US" dirty="0"/>
                        <a:t>TITLE OF THE PAPER/JOURNOL</a:t>
                      </a:r>
                    </a:p>
                  </a:txBody>
                  <a:tcPr/>
                </a:tc>
                <a:tc>
                  <a:txBody>
                    <a:bodyPr/>
                    <a:lstStyle/>
                    <a:p>
                      <a:r>
                        <a:rPr lang="en-US" dirty="0"/>
                        <a:t>AUTHOR DETAILS</a:t>
                      </a:r>
                    </a:p>
                  </a:txBody>
                  <a:tcPr/>
                </a:tc>
                <a:tc>
                  <a:txBody>
                    <a:bodyPr/>
                    <a:lstStyle/>
                    <a:p>
                      <a:r>
                        <a:rPr lang="en-US" dirty="0"/>
                        <a:t>INFERENCE</a:t>
                      </a:r>
                    </a:p>
                  </a:txBody>
                  <a:tcPr/>
                </a:tc>
                <a:extLst>
                  <a:ext uri="{0D108BD9-81ED-4DB2-BD59-A6C34878D82A}">
                    <a16:rowId xmlns:a16="http://schemas.microsoft.com/office/drawing/2014/main" val="10000"/>
                  </a:ext>
                </a:extLst>
              </a:tr>
              <a:tr h="1966100">
                <a:tc>
                  <a:txBody>
                    <a:bodyPr/>
                    <a:lstStyle/>
                    <a:p>
                      <a:r>
                        <a:rPr lang="en-US" dirty="0"/>
                        <a:t>1</a:t>
                      </a:r>
                    </a:p>
                  </a:txBody>
                  <a:tcPr/>
                </a:tc>
                <a:tc>
                  <a:txBody>
                    <a:bodyPr/>
                    <a:lstStyle/>
                    <a:p>
                      <a:r>
                        <a:rPr lang="en-US" sz="1300" b="1" i="0" kern="1200" dirty="0">
                          <a:solidFill>
                            <a:schemeClr val="dk1"/>
                          </a:solidFill>
                          <a:effectLst/>
                          <a:latin typeface="Times New Roman" panose="02020603050405020304" pitchFamily="18" charset="0"/>
                          <a:ea typeface="+mn-ea"/>
                          <a:cs typeface="Times New Roman" panose="02020603050405020304" pitchFamily="18" charset="0"/>
                        </a:rPr>
                        <a:t>Meat Quality Assessment by Electronic Nose (Machine Olfaction Technology)</a:t>
                      </a:r>
                    </a:p>
                    <a:p>
                      <a:br>
                        <a:rPr lang="en-US" sz="1300" dirty="0">
                          <a:latin typeface="Times New Roman" panose="02020603050405020304" pitchFamily="18" charset="0"/>
                          <a:cs typeface="Times New Roman" panose="02020603050405020304" pitchFamily="18" charset="0"/>
                        </a:rPr>
                      </a:b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b="0" i="0" kern="1200" dirty="0" err="1">
                          <a:solidFill>
                            <a:schemeClr val="dk1"/>
                          </a:solidFill>
                          <a:effectLst/>
                          <a:latin typeface="Times New Roman" panose="02020603050405020304" pitchFamily="18" charset="0"/>
                          <a:ea typeface="+mn-ea"/>
                          <a:cs typeface="Times New Roman" panose="02020603050405020304" pitchFamily="18" charset="0"/>
                        </a:rPr>
                        <a:t>Ghasemi-Varnamkhasti</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M., </a:t>
                      </a:r>
                      <a:r>
                        <a:rPr lang="en-US" sz="1300" b="0" i="0" kern="1200" dirty="0" err="1">
                          <a:solidFill>
                            <a:schemeClr val="dk1"/>
                          </a:solidFill>
                          <a:effectLst/>
                          <a:latin typeface="Times New Roman" panose="02020603050405020304" pitchFamily="18" charset="0"/>
                          <a:ea typeface="+mn-ea"/>
                          <a:cs typeface="Times New Roman" panose="02020603050405020304" pitchFamily="18" charset="0"/>
                        </a:rPr>
                        <a:t>Mohtasebi</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S. S., </a:t>
                      </a:r>
                      <a:r>
                        <a:rPr lang="en-US" sz="1300" b="0" i="0" kern="1200" dirty="0" err="1">
                          <a:solidFill>
                            <a:schemeClr val="dk1"/>
                          </a:solidFill>
                          <a:effectLst/>
                          <a:latin typeface="Times New Roman" panose="02020603050405020304" pitchFamily="18" charset="0"/>
                          <a:ea typeface="+mn-ea"/>
                          <a:cs typeface="Times New Roman" panose="02020603050405020304" pitchFamily="18" charset="0"/>
                        </a:rPr>
                        <a:t>Siadat</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M., &amp; Balasubramanian, S. (2009). Meat quality assessment by electronic nose (machine olfaction technology). </a:t>
                      </a:r>
                      <a:r>
                        <a:rPr lang="en-US" sz="1300" b="0" i="1" kern="1200" dirty="0">
                          <a:solidFill>
                            <a:schemeClr val="dk1"/>
                          </a:solidFill>
                          <a:effectLst/>
                          <a:latin typeface="Times New Roman" panose="02020603050405020304" pitchFamily="18" charset="0"/>
                          <a:ea typeface="+mn-ea"/>
                          <a:cs typeface="Times New Roman" panose="02020603050405020304" pitchFamily="18" charset="0"/>
                        </a:rPr>
                        <a:t>Sensors</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a:t>
                      </a:r>
                      <a:r>
                        <a:rPr lang="en-US" sz="1300" b="0" i="1" kern="1200" dirty="0">
                          <a:solidFill>
                            <a:schemeClr val="dk1"/>
                          </a:solidFill>
                          <a:effectLst/>
                          <a:latin typeface="Times New Roman" panose="02020603050405020304" pitchFamily="18" charset="0"/>
                          <a:ea typeface="+mn-ea"/>
                          <a:cs typeface="Times New Roman" panose="02020603050405020304" pitchFamily="18" charset="0"/>
                        </a:rPr>
                        <a:t>9</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(8), 6058-6083.</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At present, the commercial gas sensor technologies comprise metal oxide semiconductors, metal oxide semiconductor field effect transistors, organic conducting polymers, and piezoelectric crystal sensors. Further sensors based on </a:t>
                      </a:r>
                      <a:r>
                        <a:rPr lang="en-US" sz="1300" b="0" i="0" kern="1200" dirty="0" err="1">
                          <a:solidFill>
                            <a:schemeClr val="dk1"/>
                          </a:solidFill>
                          <a:effectLst/>
                          <a:latin typeface="Times New Roman" panose="02020603050405020304" pitchFamily="18" charset="0"/>
                          <a:ea typeface="+mn-ea"/>
                          <a:cs typeface="Times New Roman" panose="02020603050405020304" pitchFamily="18" charset="0"/>
                        </a:rPr>
                        <a:t>fibreoptic</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electrochemical and bi-metal principles are still in the developmental stage.</a:t>
                      </a:r>
                      <a:endParaRPr lang="en-US" sz="13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775832">
                <a:tc>
                  <a:txBody>
                    <a:bodyPr/>
                    <a:lstStyle/>
                    <a:p>
                      <a:r>
                        <a:rPr lang="en-US"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US" sz="1300" b="1" i="0" kern="1200" dirty="0">
                          <a:solidFill>
                            <a:schemeClr val="dk1"/>
                          </a:solidFill>
                          <a:effectLst/>
                          <a:latin typeface="Times New Roman" panose="02020603050405020304" pitchFamily="18" charset="0"/>
                          <a:ea typeface="+mn-ea"/>
                          <a:cs typeface="Times New Roman" panose="02020603050405020304" pitchFamily="18" charset="0"/>
                        </a:rPr>
                        <a:t>Development of an Integrated Soft E-Nose for Food Quality Assessment</a:t>
                      </a:r>
                    </a:p>
                    <a:p>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b="0" i="0" kern="1200" dirty="0" err="1">
                          <a:solidFill>
                            <a:schemeClr val="dk1"/>
                          </a:solidFill>
                          <a:effectLst/>
                          <a:latin typeface="Times New Roman" panose="02020603050405020304" pitchFamily="18" charset="0"/>
                          <a:ea typeface="+mn-ea"/>
                          <a:cs typeface="Times New Roman" panose="02020603050405020304" pitchFamily="18" charset="0"/>
                        </a:rPr>
                        <a:t>Pulluri</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K. K., &amp; Kumar, V. N. (2022). Development of an Integrated Soft E-nose for Food Quality Assessment. </a:t>
                      </a:r>
                      <a:r>
                        <a:rPr lang="en-US" sz="1300" b="0" i="1" kern="1200" dirty="0">
                          <a:solidFill>
                            <a:schemeClr val="dk1"/>
                          </a:solidFill>
                          <a:effectLst/>
                          <a:latin typeface="Times New Roman" panose="02020603050405020304" pitchFamily="18" charset="0"/>
                          <a:ea typeface="+mn-ea"/>
                          <a:cs typeface="Times New Roman" panose="02020603050405020304" pitchFamily="18" charset="0"/>
                        </a:rPr>
                        <a:t>IEEE Sensors Journal</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 </a:t>
                      </a:r>
                      <a:r>
                        <a:rPr lang="en-US" sz="1300" b="0" i="1" kern="1200" dirty="0">
                          <a:solidFill>
                            <a:schemeClr val="dk1"/>
                          </a:solidFill>
                          <a:effectLst/>
                          <a:latin typeface="Times New Roman" panose="02020603050405020304" pitchFamily="18" charset="0"/>
                          <a:ea typeface="+mn-ea"/>
                          <a:cs typeface="Times New Roman" panose="02020603050405020304" pitchFamily="18" charset="0"/>
                        </a:rPr>
                        <a:t>22</a:t>
                      </a:r>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(15), 15111-15122.</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b="0" i="0" kern="1200" dirty="0">
                          <a:solidFill>
                            <a:schemeClr val="dk1"/>
                          </a:solidFill>
                          <a:effectLst/>
                          <a:latin typeface="Times New Roman" panose="02020603050405020304" pitchFamily="18" charset="0"/>
                          <a:ea typeface="+mn-ea"/>
                          <a:cs typeface="Times New Roman" panose="02020603050405020304" pitchFamily="18" charset="0"/>
                        </a:rPr>
                        <a:t>In this paper, an integrated soft E-nose methodology focusing on performance enhancement and complexity reduction is proposed and implemented for the effective classification of beef quality and prediction of microbial population in beef. The soft E-nose methodology is tested on 18 available datasets.</a:t>
                      </a:r>
                      <a:endParaRPr lang="en-US" sz="13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title"/>
          </p:nvPr>
        </p:nvSpPr>
        <p:spPr>
          <a:xfrm>
            <a:off x="685332" y="574452"/>
            <a:ext cx="7773338" cy="1057882"/>
          </a:xfrm>
        </p:spPr>
        <p:txBody>
          <a:bodyPr>
            <a:normAutofit/>
          </a:bodyPr>
          <a:lstStyle/>
          <a:p>
            <a:r>
              <a:rPr sz="2600" b="1" dirty="0">
                <a:latin typeface="Times New Roman"/>
                <a:cs typeface="Times New Roman"/>
              </a:rPr>
              <a:t>OBJECTIVE</a:t>
            </a:r>
            <a:endParaRPr sz="2600" b="1" dirty="0"/>
          </a:p>
        </p:txBody>
      </p:sp>
      <p:sp>
        <p:nvSpPr>
          <p:cNvPr id="1048603" name="Content Placeholder 2"/>
          <p:cNvSpPr>
            <a:spLocks noGrp="1"/>
          </p:cNvSpPr>
          <p:nvPr>
            <p:ph idx="1"/>
          </p:nvPr>
        </p:nvSpPr>
        <p:spPr>
          <a:xfrm>
            <a:off x="702264" y="1694615"/>
            <a:ext cx="7773339" cy="4572000"/>
          </a:xfrm>
        </p:spPr>
        <p:txBody>
          <a:bodyPr>
            <a:normAutofit fontScale="92045" lnSpcReduction="10000"/>
          </a:bodyPr>
          <a:lstStyle/>
          <a:p>
            <a:pPr algn="just">
              <a:lnSpc>
                <a:spcPct val="150000"/>
              </a:lnSpc>
              <a:buFont typeface="Wingdings" panose="05000000000000000000" pitchFamily="2" charset="2"/>
              <a:buChar char="Ø"/>
            </a:pPr>
            <a:r>
              <a:rPr lang="en-US" sz="2300" cap="none" dirty="0">
                <a:latin typeface="Times New Roman" panose="02020603050405020304" pitchFamily="18" charset="0"/>
                <a:cs typeface="Times New Roman" panose="02020603050405020304" pitchFamily="18" charset="0"/>
              </a:rPr>
              <a:t>The proposed system should be able to accurately detect the quality of fruits and provide an automated solution for food quality control and inspection</a:t>
            </a:r>
          </a:p>
          <a:p>
            <a:pPr algn="just">
              <a:lnSpc>
                <a:spcPct val="150000"/>
              </a:lnSpc>
              <a:buFont typeface="Wingdings" panose="05000000000000000000" pitchFamily="2" charset="2"/>
              <a:buChar char="Ø"/>
            </a:pPr>
            <a:r>
              <a:rPr lang="en-US" sz="2300" cap="none" dirty="0">
                <a:latin typeface="Times New Roman"/>
                <a:cs typeface="Times New Roman"/>
              </a:rPr>
              <a:t>To design and development  an e-nose for analyzing the quality of apple with high accuracy.</a:t>
            </a:r>
          </a:p>
          <a:p>
            <a:pPr algn="just">
              <a:lnSpc>
                <a:spcPct val="150000"/>
              </a:lnSpc>
              <a:buFont typeface="Wingdings" panose="05000000000000000000" pitchFamily="2" charset="2"/>
              <a:buChar char="Ø"/>
            </a:pPr>
            <a:r>
              <a:rPr lang="en-US" sz="2300" cap="none" dirty="0">
                <a:latin typeface="Times New Roman"/>
                <a:cs typeface="Times New Roman"/>
              </a:rPr>
              <a:t> To identify the sensors as per the chemical constituents present in the apple and design the sensor array of the e-nose system.</a:t>
            </a:r>
          </a:p>
          <a:p>
            <a:pPr algn="just">
              <a:lnSpc>
                <a:spcPct val="150000"/>
              </a:lnSpc>
              <a:buFont typeface="Wingdings" panose="05000000000000000000" pitchFamily="2" charset="2"/>
              <a:buChar char="Ø"/>
            </a:pPr>
            <a:r>
              <a:rPr lang="en-US" sz="2300" cap="none" dirty="0">
                <a:latin typeface="Times New Roman"/>
                <a:cs typeface="Times New Roman"/>
              </a:rPr>
              <a:t> To design and develop an AI driven algorithm for predicting the quality of the apple for the processing system.</a:t>
            </a:r>
          </a:p>
          <a:p>
            <a:pPr algn="just">
              <a:lnSpc>
                <a:spcPct val="150000"/>
              </a:lnSpc>
              <a:buFont typeface="Wingdings" panose="05000000000000000000" pitchFamily="2" charset="2"/>
              <a:buChar char="Ø"/>
            </a:pPr>
            <a:endParaRPr lang="en-US" sz="3300" cap="none"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0A879-04F4-184F-4CEF-12D989B7D31A}"/>
              </a:ext>
            </a:extLst>
          </p:cNvPr>
          <p:cNvSpPr>
            <a:spLocks noGrp="1"/>
          </p:cNvSpPr>
          <p:nvPr>
            <p:ph type="title"/>
          </p:nvPr>
        </p:nvSpPr>
        <p:spPr>
          <a:xfrm>
            <a:off x="543479" y="185555"/>
            <a:ext cx="7773338" cy="1033646"/>
          </a:xfrm>
        </p:spPr>
        <p:txBody>
          <a:bodyPr>
            <a:normAutofit/>
          </a:bodyPr>
          <a:lstStyle/>
          <a:p>
            <a:r>
              <a:rPr lang="en-US" sz="3000" dirty="0">
                <a:latin typeface="Times New Roman" panose="02020603050405020304" pitchFamily="18" charset="0"/>
                <a:cs typeface="Times New Roman" panose="02020603050405020304" pitchFamily="18" charset="0"/>
              </a:rPr>
              <a:t>block diagram</a:t>
            </a:r>
          </a:p>
        </p:txBody>
      </p:sp>
      <p:sp>
        <p:nvSpPr>
          <p:cNvPr id="4" name="Date Placeholder 3">
            <a:extLst>
              <a:ext uri="{FF2B5EF4-FFF2-40B4-BE49-F238E27FC236}">
                <a16:creationId xmlns:a16="http://schemas.microsoft.com/office/drawing/2014/main" id="{704F7BC7-82C2-0044-FE68-617A2AF16098}"/>
              </a:ext>
            </a:extLst>
          </p:cNvPr>
          <p:cNvSpPr>
            <a:spLocks noGrp="1"/>
          </p:cNvSpPr>
          <p:nvPr>
            <p:ph type="dt" sz="half" idx="10"/>
          </p:nvPr>
        </p:nvSpPr>
        <p:spPr/>
        <p:txBody>
          <a:bodyPr/>
          <a:lstStyle/>
          <a:p>
            <a:fld id="{8F4FA0F5-6424-40BF-B8B7-4C330280225C}" type="datetime1">
              <a:rPr lang="en-IN" smtClean="0"/>
              <a:t>10-03-2023</a:t>
            </a:fld>
            <a:endParaRPr lang="en-IN"/>
          </a:p>
        </p:txBody>
      </p:sp>
      <p:sp>
        <p:nvSpPr>
          <p:cNvPr id="5" name="Footer Placeholder 4">
            <a:extLst>
              <a:ext uri="{FF2B5EF4-FFF2-40B4-BE49-F238E27FC236}">
                <a16:creationId xmlns:a16="http://schemas.microsoft.com/office/drawing/2014/main" id="{40F0FBCA-7AB7-DA3E-6247-78145E17C946}"/>
              </a:ext>
            </a:extLst>
          </p:cNvPr>
          <p:cNvSpPr>
            <a:spLocks noGrp="1"/>
          </p:cNvSpPr>
          <p:nvPr>
            <p:ph type="ftr" sz="quarter" idx="11"/>
          </p:nvPr>
        </p:nvSpPr>
        <p:spPr/>
        <p:txBody>
          <a:bodyPr/>
          <a:lstStyle/>
          <a:p>
            <a:r>
              <a:rPr lang="en-IN"/>
              <a:t>BATCH NO:                   PRESENTED DATE:</a:t>
            </a:r>
          </a:p>
        </p:txBody>
      </p:sp>
      <p:sp>
        <p:nvSpPr>
          <p:cNvPr id="6" name="Slide Number Placeholder 5">
            <a:extLst>
              <a:ext uri="{FF2B5EF4-FFF2-40B4-BE49-F238E27FC236}">
                <a16:creationId xmlns:a16="http://schemas.microsoft.com/office/drawing/2014/main" id="{ABB91BCA-AF82-4C63-6F42-81007992D9FB}"/>
              </a:ext>
            </a:extLst>
          </p:cNvPr>
          <p:cNvSpPr>
            <a:spLocks noGrp="1"/>
          </p:cNvSpPr>
          <p:nvPr>
            <p:ph type="sldNum" sz="quarter" idx="12"/>
          </p:nvPr>
        </p:nvSpPr>
        <p:spPr/>
        <p:txBody>
          <a:bodyPr/>
          <a:lstStyle/>
          <a:p>
            <a:fld id="{669AD40C-E5A7-4132-A31D-54A4D1BB6E89}" type="slidenum">
              <a:rPr lang="en-IN" smtClean="0"/>
              <a:t>7</a:t>
            </a:fld>
            <a:endParaRPr lang="en-IN"/>
          </a:p>
        </p:txBody>
      </p:sp>
      <p:pic>
        <p:nvPicPr>
          <p:cNvPr id="7" name="Content Placeholder 5" descr="C:\Users\PANTECH\Desktop\DIAGRAM\E NOSE\block.drawio.png">
            <a:extLst>
              <a:ext uri="{FF2B5EF4-FFF2-40B4-BE49-F238E27FC236}">
                <a16:creationId xmlns:a16="http://schemas.microsoft.com/office/drawing/2014/main" id="{9AE00AEC-310D-5100-E91F-4E229DE8E614}"/>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28800"/>
            <a:ext cx="7024687" cy="3921919"/>
          </a:xfrm>
          <a:prstGeom prst="rect">
            <a:avLst/>
          </a:prstGeom>
          <a:noFill/>
          <a:ln>
            <a:noFill/>
          </a:ln>
        </p:spPr>
      </p:pic>
    </p:spTree>
    <p:extLst>
      <p:ext uri="{BB962C8B-B14F-4D97-AF65-F5344CB8AC3E}">
        <p14:creationId xmlns:p14="http://schemas.microsoft.com/office/powerpoint/2010/main" val="3848735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7ADFAD9-5F00-FD7A-FB16-C7C8BD81D077}"/>
              </a:ext>
            </a:extLst>
          </p:cNvPr>
          <p:cNvSpPr>
            <a:spLocks noGrp="1"/>
          </p:cNvSpPr>
          <p:nvPr>
            <p:ph type="title"/>
          </p:nvPr>
        </p:nvSpPr>
        <p:spPr>
          <a:xfrm>
            <a:off x="685332" y="618519"/>
            <a:ext cx="7773338" cy="676882"/>
          </a:xfrm>
        </p:spPr>
        <p:txBody>
          <a:bodyPr>
            <a:normAutofit/>
          </a:bodyPr>
          <a:lstStyle/>
          <a:p>
            <a:r>
              <a:rPr lang="en-US" sz="3000" dirty="0">
                <a:latin typeface="Times New Roman" panose="02020603050405020304" pitchFamily="18" charset="0"/>
                <a:cs typeface="Times New Roman" panose="02020603050405020304" pitchFamily="18" charset="0"/>
              </a:rPr>
              <a:t>Block diagram</a:t>
            </a:r>
          </a:p>
        </p:txBody>
      </p:sp>
      <p:sp>
        <p:nvSpPr>
          <p:cNvPr id="4" name="Date Placeholder 3">
            <a:extLst>
              <a:ext uri="{FF2B5EF4-FFF2-40B4-BE49-F238E27FC236}">
                <a16:creationId xmlns:a16="http://schemas.microsoft.com/office/drawing/2014/main" id="{AF1F15E7-2CC0-A47B-4676-D178D43ADBCB}"/>
              </a:ext>
            </a:extLst>
          </p:cNvPr>
          <p:cNvSpPr>
            <a:spLocks noGrp="1"/>
          </p:cNvSpPr>
          <p:nvPr>
            <p:ph type="dt" sz="half" idx="10"/>
          </p:nvPr>
        </p:nvSpPr>
        <p:spPr/>
        <p:txBody>
          <a:bodyPr/>
          <a:lstStyle/>
          <a:p>
            <a:fld id="{8F4FA0F5-6424-40BF-B8B7-4C330280225C}" type="datetime1">
              <a:rPr lang="en-IN" smtClean="0"/>
              <a:t>10-03-2023</a:t>
            </a:fld>
            <a:endParaRPr lang="en-IN"/>
          </a:p>
        </p:txBody>
      </p:sp>
      <p:sp>
        <p:nvSpPr>
          <p:cNvPr id="5" name="Footer Placeholder 4">
            <a:extLst>
              <a:ext uri="{FF2B5EF4-FFF2-40B4-BE49-F238E27FC236}">
                <a16:creationId xmlns:a16="http://schemas.microsoft.com/office/drawing/2014/main" id="{FB2FA9BC-A4FE-8698-8559-53C60956AD92}"/>
              </a:ext>
            </a:extLst>
          </p:cNvPr>
          <p:cNvSpPr>
            <a:spLocks noGrp="1"/>
          </p:cNvSpPr>
          <p:nvPr>
            <p:ph type="ftr" sz="quarter" idx="11"/>
          </p:nvPr>
        </p:nvSpPr>
        <p:spPr/>
        <p:txBody>
          <a:bodyPr/>
          <a:lstStyle/>
          <a:p>
            <a:r>
              <a:rPr lang="en-IN"/>
              <a:t>BATCH NO:                   PRESENTED DATE:</a:t>
            </a:r>
          </a:p>
        </p:txBody>
      </p:sp>
      <p:sp>
        <p:nvSpPr>
          <p:cNvPr id="6" name="Slide Number Placeholder 5">
            <a:extLst>
              <a:ext uri="{FF2B5EF4-FFF2-40B4-BE49-F238E27FC236}">
                <a16:creationId xmlns:a16="http://schemas.microsoft.com/office/drawing/2014/main" id="{FC1EE4E5-912D-F59C-FB6B-295D3483AFA0}"/>
              </a:ext>
            </a:extLst>
          </p:cNvPr>
          <p:cNvSpPr>
            <a:spLocks noGrp="1"/>
          </p:cNvSpPr>
          <p:nvPr>
            <p:ph type="sldNum" sz="quarter" idx="12"/>
          </p:nvPr>
        </p:nvSpPr>
        <p:spPr/>
        <p:txBody>
          <a:bodyPr/>
          <a:lstStyle/>
          <a:p>
            <a:fld id="{669AD40C-E5A7-4132-A31D-54A4D1BB6E89}" type="slidenum">
              <a:rPr lang="en-IN" smtClean="0"/>
              <a:t>8</a:t>
            </a:fld>
            <a:endParaRPr lang="en-IN"/>
          </a:p>
        </p:txBody>
      </p:sp>
      <p:pic>
        <p:nvPicPr>
          <p:cNvPr id="7" name="Content Placeholder 4">
            <a:extLst>
              <a:ext uri="{FF2B5EF4-FFF2-40B4-BE49-F238E27FC236}">
                <a16:creationId xmlns:a16="http://schemas.microsoft.com/office/drawing/2014/main" id="{70B5C2AB-28AB-E33E-A74E-6E60D56DD56D}"/>
              </a:ext>
            </a:extLst>
          </p:cNvPr>
          <p:cNvPicPr>
            <a:picLocks noGrp="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1085489" y="1905000"/>
            <a:ext cx="7086600" cy="3657600"/>
          </a:xfrm>
          <a:prstGeom prst="rect">
            <a:avLst/>
          </a:prstGeom>
          <a:noFill/>
          <a:ln>
            <a:noFill/>
          </a:ln>
        </p:spPr>
      </p:pic>
    </p:spTree>
    <p:extLst>
      <p:ext uri="{BB962C8B-B14F-4D97-AF65-F5344CB8AC3E}">
        <p14:creationId xmlns:p14="http://schemas.microsoft.com/office/powerpoint/2010/main" val="2701078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83E03-7E49-A893-EF84-4A0F72DF92D4}"/>
              </a:ext>
            </a:extLst>
          </p:cNvPr>
          <p:cNvSpPr>
            <a:spLocks noGrp="1"/>
          </p:cNvSpPr>
          <p:nvPr>
            <p:ph type="title"/>
          </p:nvPr>
        </p:nvSpPr>
        <p:spPr>
          <a:xfrm>
            <a:off x="685331" y="828565"/>
            <a:ext cx="7763814" cy="847836"/>
          </a:xfrm>
        </p:spPr>
        <p:txBody>
          <a:bodyPr>
            <a:normAutofit/>
          </a:bodyPr>
          <a:lstStyle/>
          <a:p>
            <a:r>
              <a:rPr lang="en-US" sz="3000" dirty="0">
                <a:latin typeface="Times New Roman" panose="02020603050405020304" pitchFamily="18" charset="0"/>
                <a:cs typeface="Times New Roman" panose="02020603050405020304" pitchFamily="18" charset="0"/>
              </a:rPr>
              <a:t>hardware</a:t>
            </a:r>
          </a:p>
        </p:txBody>
      </p:sp>
      <p:sp>
        <p:nvSpPr>
          <p:cNvPr id="6" name="Text Placeholder 5">
            <a:extLst>
              <a:ext uri="{FF2B5EF4-FFF2-40B4-BE49-F238E27FC236}">
                <a16:creationId xmlns:a16="http://schemas.microsoft.com/office/drawing/2014/main" id="{332D683D-17B7-A847-0953-D8B6C2571720}"/>
              </a:ext>
            </a:extLst>
          </p:cNvPr>
          <p:cNvSpPr>
            <a:spLocks noGrp="1"/>
          </p:cNvSpPr>
          <p:nvPr>
            <p:ph type="body" idx="1"/>
          </p:nvPr>
        </p:nvSpPr>
        <p:spPr>
          <a:xfrm>
            <a:off x="685331" y="1752600"/>
            <a:ext cx="7763814" cy="4130676"/>
          </a:xfrm>
        </p:spPr>
        <p:txBody>
          <a:bodyPr/>
          <a:lstStyle/>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Raspberry pi zero</a:t>
            </a:r>
          </a:p>
          <a:p>
            <a:pPr marL="34290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Arduino uno</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Jumper wires</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Power supply </a:t>
            </a:r>
            <a:r>
              <a:rPr lang="en-US" sz="1800" cap="none" dirty="0" err="1">
                <a:solidFill>
                  <a:schemeClr val="tx1"/>
                </a:solidFill>
                <a:latin typeface="Times New Roman" panose="02020603050405020304" pitchFamily="18" charset="0"/>
                <a:cs typeface="Times New Roman" panose="02020603050405020304" pitchFamily="18" charset="0"/>
              </a:rPr>
              <a:t>usb</a:t>
            </a:r>
            <a:r>
              <a:rPr lang="en-US" sz="1800" cap="none" dirty="0">
                <a:solidFill>
                  <a:schemeClr val="tx1"/>
                </a:solidFill>
                <a:latin typeface="Times New Roman" panose="02020603050405020304" pitchFamily="18" charset="0"/>
                <a:cs typeface="Times New Roman" panose="02020603050405020304" pitchFamily="18" charset="0"/>
              </a:rPr>
              <a:t> cable</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LCD display</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MQ sensor</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Temperature sensor</a:t>
            </a:r>
          </a:p>
          <a:p>
            <a:endParaRPr lang="en-US" dirty="0"/>
          </a:p>
        </p:txBody>
      </p:sp>
      <p:sp>
        <p:nvSpPr>
          <p:cNvPr id="3" name="Date Placeholder 2">
            <a:extLst>
              <a:ext uri="{FF2B5EF4-FFF2-40B4-BE49-F238E27FC236}">
                <a16:creationId xmlns:a16="http://schemas.microsoft.com/office/drawing/2014/main" id="{CEC8EE25-797A-6073-37C2-70A65745A9BA}"/>
              </a:ext>
            </a:extLst>
          </p:cNvPr>
          <p:cNvSpPr>
            <a:spLocks noGrp="1"/>
          </p:cNvSpPr>
          <p:nvPr>
            <p:ph type="dt" sz="half" idx="10"/>
          </p:nvPr>
        </p:nvSpPr>
        <p:spPr/>
        <p:txBody>
          <a:bodyPr/>
          <a:lstStyle/>
          <a:p>
            <a:fld id="{909096E9-518F-4632-A6C3-F5ACA0892BA2}" type="datetime1">
              <a:rPr lang="en-IN" smtClean="0"/>
              <a:t>10-03-2023</a:t>
            </a:fld>
            <a:endParaRPr lang="en-IN"/>
          </a:p>
        </p:txBody>
      </p:sp>
      <p:sp>
        <p:nvSpPr>
          <p:cNvPr id="4" name="Footer Placeholder 3">
            <a:extLst>
              <a:ext uri="{FF2B5EF4-FFF2-40B4-BE49-F238E27FC236}">
                <a16:creationId xmlns:a16="http://schemas.microsoft.com/office/drawing/2014/main" id="{6EA3D416-D9E1-1A1B-A00B-A10A29E6ECB1}"/>
              </a:ext>
            </a:extLst>
          </p:cNvPr>
          <p:cNvSpPr>
            <a:spLocks noGrp="1"/>
          </p:cNvSpPr>
          <p:nvPr>
            <p:ph type="ftr" sz="quarter" idx="11"/>
          </p:nvPr>
        </p:nvSpPr>
        <p:spPr/>
        <p:txBody>
          <a:bodyPr/>
          <a:lstStyle/>
          <a:p>
            <a:r>
              <a:rPr lang="en-IN"/>
              <a:t>BATCH NO:                   PRESENTED DATE:</a:t>
            </a:r>
          </a:p>
        </p:txBody>
      </p:sp>
      <p:sp>
        <p:nvSpPr>
          <p:cNvPr id="5" name="Slide Number Placeholder 4">
            <a:extLst>
              <a:ext uri="{FF2B5EF4-FFF2-40B4-BE49-F238E27FC236}">
                <a16:creationId xmlns:a16="http://schemas.microsoft.com/office/drawing/2014/main" id="{DE6D8D78-07A8-32B8-2063-B37D53BF7A0A}"/>
              </a:ext>
            </a:extLst>
          </p:cNvPr>
          <p:cNvSpPr>
            <a:spLocks noGrp="1"/>
          </p:cNvSpPr>
          <p:nvPr>
            <p:ph type="sldNum" sz="quarter" idx="12"/>
          </p:nvPr>
        </p:nvSpPr>
        <p:spPr/>
        <p:txBody>
          <a:bodyPr/>
          <a:lstStyle/>
          <a:p>
            <a:fld id="{669AD40C-E5A7-4132-A31D-54A4D1BB6E89}" type="slidenum">
              <a:rPr lang="en-IN" smtClean="0"/>
              <a:t>9</a:t>
            </a:fld>
            <a:endParaRPr lang="en-IN"/>
          </a:p>
        </p:txBody>
      </p:sp>
    </p:spTree>
    <p:extLst>
      <p:ext uri="{BB962C8B-B14F-4D97-AF65-F5344CB8AC3E}">
        <p14:creationId xmlns:p14="http://schemas.microsoft.com/office/powerpoint/2010/main" val="248645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180C3BF-BA80-2AFF-F0D2-CCD9D5AEB3E6}"/>
              </a:ext>
            </a:extLst>
          </p:cNvPr>
          <p:cNvSpPr>
            <a:spLocks noGrp="1"/>
          </p:cNvSpPr>
          <p:nvPr>
            <p:ph type="title"/>
          </p:nvPr>
        </p:nvSpPr>
        <p:spPr>
          <a:xfrm>
            <a:off x="685331" y="828565"/>
            <a:ext cx="7763814" cy="924036"/>
          </a:xfrm>
        </p:spPr>
        <p:txBody>
          <a:bodyPr>
            <a:normAutofit/>
          </a:bodyPr>
          <a:lstStyle/>
          <a:p>
            <a:r>
              <a:rPr lang="en-US" sz="3000" dirty="0">
                <a:latin typeface="Times New Roman" panose="02020603050405020304" pitchFamily="18" charset="0"/>
                <a:cs typeface="Times New Roman" panose="02020603050405020304" pitchFamily="18" charset="0"/>
              </a:rPr>
              <a:t>software</a:t>
            </a:r>
          </a:p>
        </p:txBody>
      </p:sp>
      <p:sp>
        <p:nvSpPr>
          <p:cNvPr id="7" name="Text Placeholder 6">
            <a:extLst>
              <a:ext uri="{FF2B5EF4-FFF2-40B4-BE49-F238E27FC236}">
                <a16:creationId xmlns:a16="http://schemas.microsoft.com/office/drawing/2014/main" id="{E067F718-88C5-485F-323A-A1E253AF253F}"/>
              </a:ext>
            </a:extLst>
          </p:cNvPr>
          <p:cNvSpPr>
            <a:spLocks noGrp="1"/>
          </p:cNvSpPr>
          <p:nvPr>
            <p:ph type="body" idx="1"/>
          </p:nvPr>
        </p:nvSpPr>
        <p:spPr>
          <a:xfrm>
            <a:off x="657789" y="1905000"/>
            <a:ext cx="7763814" cy="3733800"/>
          </a:xfrm>
        </p:spPr>
        <p:txBody>
          <a:bodyPr>
            <a:normAutofit/>
          </a:bodyPr>
          <a:lstStyle/>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Raspbian OS</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Python IDLE</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Arduino IDE</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Embedded C</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VNC viewer</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Embedded C</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Python </a:t>
            </a:r>
          </a:p>
          <a:p>
            <a:pPr marL="342900" lvl="0" indent="-342900" algn="l">
              <a:buFont typeface="Wingdings" panose="05000000000000000000" pitchFamily="2" charset="2"/>
              <a:buChar char="Ø"/>
            </a:pPr>
            <a:r>
              <a:rPr lang="en-US" sz="1800" cap="none" dirty="0">
                <a:solidFill>
                  <a:schemeClr val="tx1"/>
                </a:solidFill>
                <a:latin typeface="Times New Roman" panose="02020603050405020304" pitchFamily="18" charset="0"/>
                <a:cs typeface="Times New Roman" panose="02020603050405020304" pitchFamily="18" charset="0"/>
              </a:rPr>
              <a:t>IP cam app</a:t>
            </a:r>
          </a:p>
          <a:p>
            <a:endParaRPr lang="en-US" dirty="0"/>
          </a:p>
        </p:txBody>
      </p:sp>
      <p:sp>
        <p:nvSpPr>
          <p:cNvPr id="3" name="Date Placeholder 2">
            <a:extLst>
              <a:ext uri="{FF2B5EF4-FFF2-40B4-BE49-F238E27FC236}">
                <a16:creationId xmlns:a16="http://schemas.microsoft.com/office/drawing/2014/main" id="{8CE0D636-CA3C-69EE-8D06-EA94ECE0C778}"/>
              </a:ext>
            </a:extLst>
          </p:cNvPr>
          <p:cNvSpPr>
            <a:spLocks noGrp="1"/>
          </p:cNvSpPr>
          <p:nvPr>
            <p:ph type="dt" sz="half" idx="10"/>
          </p:nvPr>
        </p:nvSpPr>
        <p:spPr/>
        <p:txBody>
          <a:bodyPr/>
          <a:lstStyle/>
          <a:p>
            <a:fld id="{909096E9-518F-4632-A6C3-F5ACA0892BA2}" type="datetime1">
              <a:rPr lang="en-IN" smtClean="0"/>
              <a:t>10-03-2023</a:t>
            </a:fld>
            <a:endParaRPr lang="en-IN"/>
          </a:p>
        </p:txBody>
      </p:sp>
      <p:sp>
        <p:nvSpPr>
          <p:cNvPr id="4" name="Footer Placeholder 3">
            <a:extLst>
              <a:ext uri="{FF2B5EF4-FFF2-40B4-BE49-F238E27FC236}">
                <a16:creationId xmlns:a16="http://schemas.microsoft.com/office/drawing/2014/main" id="{56DA44A7-126A-AD46-A60E-8A1BC12BF0E4}"/>
              </a:ext>
            </a:extLst>
          </p:cNvPr>
          <p:cNvSpPr>
            <a:spLocks noGrp="1"/>
          </p:cNvSpPr>
          <p:nvPr>
            <p:ph type="ftr" sz="quarter" idx="11"/>
          </p:nvPr>
        </p:nvSpPr>
        <p:spPr/>
        <p:txBody>
          <a:bodyPr/>
          <a:lstStyle/>
          <a:p>
            <a:r>
              <a:rPr lang="en-IN"/>
              <a:t>BATCH NO:                   PRESENTED DATE:</a:t>
            </a:r>
          </a:p>
        </p:txBody>
      </p:sp>
      <p:sp>
        <p:nvSpPr>
          <p:cNvPr id="5" name="Slide Number Placeholder 4">
            <a:extLst>
              <a:ext uri="{FF2B5EF4-FFF2-40B4-BE49-F238E27FC236}">
                <a16:creationId xmlns:a16="http://schemas.microsoft.com/office/drawing/2014/main" id="{2F81BD6E-6C34-926E-D09D-C4C9AC31D17E}"/>
              </a:ext>
            </a:extLst>
          </p:cNvPr>
          <p:cNvSpPr>
            <a:spLocks noGrp="1"/>
          </p:cNvSpPr>
          <p:nvPr>
            <p:ph type="sldNum" sz="quarter" idx="12"/>
          </p:nvPr>
        </p:nvSpPr>
        <p:spPr/>
        <p:txBody>
          <a:bodyPr/>
          <a:lstStyle/>
          <a:p>
            <a:fld id="{669AD40C-E5A7-4132-A31D-54A4D1BB6E89}" type="slidenum">
              <a:rPr lang="en-IN" smtClean="0"/>
              <a:t>10</a:t>
            </a:fld>
            <a:endParaRPr lang="en-IN"/>
          </a:p>
        </p:txBody>
      </p:sp>
    </p:spTree>
    <p:extLst>
      <p:ext uri="{BB962C8B-B14F-4D97-AF65-F5344CB8AC3E}">
        <p14:creationId xmlns:p14="http://schemas.microsoft.com/office/powerpoint/2010/main" val="2570312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p:cNvSpPr>
            <a:spLocks noGrp="1"/>
          </p:cNvSpPr>
          <p:nvPr>
            <p:ph type="title"/>
          </p:nvPr>
        </p:nvSpPr>
        <p:spPr>
          <a:xfrm>
            <a:off x="990600" y="228600"/>
            <a:ext cx="7086600" cy="1676400"/>
          </a:xfrm>
        </p:spPr>
        <p:txBody>
          <a:bodyPr>
            <a:normAutofit/>
          </a:bodyPr>
          <a:lstStyle/>
          <a:p>
            <a:r>
              <a:rPr sz="2600" b="1" dirty="0">
                <a:latin typeface="Times New Roman"/>
                <a:cs typeface="Times New Roman"/>
              </a:rPr>
              <a:t> METHODOLOG</a:t>
            </a:r>
            <a:r>
              <a:rPr lang="en-US" sz="2600" b="1" dirty="0">
                <a:latin typeface="Times New Roman"/>
                <a:cs typeface="Times New Roman"/>
              </a:rPr>
              <a:t>Y</a:t>
            </a:r>
            <a:endParaRPr sz="2600" dirty="0"/>
          </a:p>
        </p:txBody>
      </p:sp>
      <p:sp>
        <p:nvSpPr>
          <p:cNvPr id="1048610" name="Content Placeholder 2"/>
          <p:cNvSpPr>
            <a:spLocks noGrp="1"/>
          </p:cNvSpPr>
          <p:nvPr>
            <p:ph idx="1"/>
          </p:nvPr>
        </p:nvSpPr>
        <p:spPr>
          <a:xfrm>
            <a:off x="266700" y="1371600"/>
            <a:ext cx="8610600" cy="4724400"/>
          </a:xfrm>
        </p:spPr>
        <p:txBody>
          <a:bodyPr>
            <a:noAutofit/>
          </a:bodyPr>
          <a:lstStyle/>
          <a:p>
            <a:pPr algn="just">
              <a:buFont typeface="Wingdings" panose="05000000000000000000" pitchFamily="2" charset="2"/>
              <a:buChar char="Ø"/>
            </a:pPr>
            <a:r>
              <a:rPr lang="en-US" sz="1800" cap="none" dirty="0">
                <a:latin typeface="Times New Roman"/>
                <a:cs typeface="Times New Roman"/>
              </a:rPr>
              <a:t>Step 1: Selecting sensors that can detect a wide range of volatile compounds that are specific to apples and calibrating them for optimal performance.</a:t>
            </a:r>
          </a:p>
          <a:p>
            <a:pPr algn="just">
              <a:buFont typeface="Wingdings"/>
              <a:buChar char="Ø"/>
            </a:pPr>
            <a:r>
              <a:rPr lang="en-US" sz="1800" cap="none" dirty="0">
                <a:latin typeface="Times New Roman"/>
                <a:cs typeface="Times New Roman"/>
              </a:rPr>
              <a:t>Step 2:Sample collection and preparation: collecting apples from different stages of ripeness and preparing them for testing by removing any external contaminants.</a:t>
            </a:r>
          </a:p>
          <a:p>
            <a:pPr algn="just">
              <a:buFont typeface="Wingdings"/>
              <a:buChar char="Ø"/>
            </a:pPr>
            <a:r>
              <a:rPr lang="en-US" sz="1800" cap="none" dirty="0">
                <a:latin typeface="Times New Roman"/>
                <a:cs typeface="Times New Roman"/>
              </a:rPr>
              <a:t>Step 3: Selection and calibration of appropriate sensors and designing sensor array.</a:t>
            </a:r>
          </a:p>
          <a:p>
            <a:pPr algn="just">
              <a:buFont typeface="Wingdings"/>
              <a:buChar char="Ø"/>
            </a:pPr>
            <a:r>
              <a:rPr lang="en-US" sz="1800" cap="none" dirty="0">
                <a:latin typeface="Times New Roman"/>
                <a:cs typeface="Times New Roman"/>
              </a:rPr>
              <a:t>Step 4: Data acquisition and analysis: acquiring data from the sensors and analyzing it to determine the quality and ripeness of the apples.</a:t>
            </a:r>
          </a:p>
          <a:p>
            <a:pPr algn="just">
              <a:buFont typeface="Wingdings"/>
              <a:buChar char="Ø"/>
            </a:pPr>
            <a:r>
              <a:rPr lang="en-US" sz="1800" cap="none" dirty="0">
                <a:latin typeface="Times New Roman"/>
                <a:cs typeface="Times New Roman"/>
              </a:rPr>
              <a:t> Step 5: Design of Deep learning algorithm for the processing unit to predict the quality of the apple.</a:t>
            </a:r>
          </a:p>
          <a:p>
            <a:pPr algn="just">
              <a:buFont typeface="Wingdings"/>
              <a:buChar char="Ø"/>
            </a:pPr>
            <a:r>
              <a:rPr lang="en-US" sz="1800" cap="none" dirty="0">
                <a:latin typeface="Times New Roman"/>
                <a:cs typeface="Times New Roman"/>
              </a:rPr>
              <a:t>Step 6: Validation of the e-nose system: validating the e-nose system by comparing its results with those obtained from other testing methods.</a:t>
            </a:r>
          </a:p>
          <a:p>
            <a:pPr algn="just">
              <a:buFont typeface="Wingdings"/>
              <a:buChar char="Ø"/>
            </a:pPr>
            <a:r>
              <a:rPr lang="en-US" sz="1800" cap="none" dirty="0">
                <a:latin typeface="Times New Roman"/>
                <a:cs typeface="Times New Roman"/>
              </a:rPr>
              <a:t>Step 7: Refining and improving the e-nose system: continuously refining and improving the e-nose system based on the results of validation and user feedback</a:t>
            </a:r>
            <a:r>
              <a:rPr lang="en-US" sz="1600" dirty="0">
                <a:latin typeface="Times New Roman"/>
                <a:cs typeface="Times New Roman"/>
              </a:rPr>
              <a:t>.</a:t>
            </a:r>
            <a:endParaRPr sz="16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05" name="Table 4"/>
          <p:cNvGraphicFramePr>
            <a:graphicFrameLocks/>
          </p:cNvGraphicFramePr>
          <p:nvPr/>
        </p:nvGraphicFramePr>
        <p:xfrm>
          <a:off x="1012110" y="1710485"/>
          <a:ext cx="7401847" cy="4089552"/>
        </p:xfrm>
        <a:graphic>
          <a:graphicData uri="http://schemas.openxmlformats.org/drawingml/2006/table">
            <a:tbl>
              <a:tblPr firstRow="1" bandRow="1"/>
              <a:tblGrid>
                <a:gridCol w="819021">
                  <a:extLst>
                    <a:ext uri="{9D8B030D-6E8A-4147-A177-3AD203B41FA5}">
                      <a16:colId xmlns:a16="http://schemas.microsoft.com/office/drawing/2014/main" val="20000"/>
                    </a:ext>
                  </a:extLst>
                </a:gridCol>
                <a:gridCol w="2417645">
                  <a:extLst>
                    <a:ext uri="{9D8B030D-6E8A-4147-A177-3AD203B41FA5}">
                      <a16:colId xmlns:a16="http://schemas.microsoft.com/office/drawing/2014/main" val="20001"/>
                    </a:ext>
                  </a:extLst>
                </a:gridCol>
                <a:gridCol w="2509620">
                  <a:extLst>
                    <a:ext uri="{9D8B030D-6E8A-4147-A177-3AD203B41FA5}">
                      <a16:colId xmlns:a16="http://schemas.microsoft.com/office/drawing/2014/main" val="20002"/>
                    </a:ext>
                  </a:extLst>
                </a:gridCol>
                <a:gridCol w="1655561">
                  <a:extLst>
                    <a:ext uri="{9D8B030D-6E8A-4147-A177-3AD203B41FA5}">
                      <a16:colId xmlns:a16="http://schemas.microsoft.com/office/drawing/2014/main" val="20003"/>
                    </a:ext>
                  </a:extLst>
                </a:gridCol>
              </a:tblGrid>
              <a:tr h="511194">
                <a:tc>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mpd="sng">
                      <a:solidFill>
                        <a:sysClr val="window" lastClr="FFFFFF"/>
                      </a:solid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solidFill>
                  </a:tcPr>
                </a:tc>
                <a:tc>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just"/>
                      <a:r>
                        <a:rPr lang="en-IN" sz="1400" dirty="0">
                          <a:latin typeface="Times New Roman" panose="02020603050405020304" pitchFamily="18" charset="0"/>
                          <a:cs typeface="Times New Roman" panose="02020603050405020304" pitchFamily="18" charset="0"/>
                        </a:rPr>
                        <a:t>PROJECT ACTIVITY</a:t>
                      </a: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solidFill>
                  </a:tcPr>
                </a:tc>
                <a:tc>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DESCRIPTION</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solidFill>
                  </a:tcPr>
                </a:tc>
                <a:tc>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l"/>
                      <a:r>
                        <a:rPr lang="en-US" sz="1400" dirty="0">
                          <a:latin typeface="Times New Roman" panose="02020603050405020304" pitchFamily="18" charset="0"/>
                          <a:cs typeface="Times New Roman" panose="02020603050405020304" pitchFamily="18" charset="0"/>
                        </a:rPr>
                        <a:t>DATE OF COMPLETION</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ap="flat" cmpd="sng" algn="ctr">
                      <a:solidFill>
                        <a:sysClr val="window" lastClr="FFFFFF"/>
                      </a:solidFill>
                      <a:prstDash val="solid"/>
                      <a:round/>
                      <a:headEnd type="none" w="med" len="med"/>
                      <a:tailEnd type="none" w="med" len="med"/>
                    </a:lnT>
                    <a:lnB w="38100" cmpd="sng">
                      <a:solidFill>
                        <a:sysClr val="window" lastClr="FFFFFF"/>
                      </a:solid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solidFill>
                  </a:tcPr>
                </a:tc>
                <a:extLst>
                  <a:ext uri="{0D108BD9-81ED-4DB2-BD59-A6C34878D82A}">
                    <a16:rowId xmlns:a16="http://schemas.microsoft.com/office/drawing/2014/main" val="10000"/>
                  </a:ext>
                </a:extLst>
              </a:tr>
              <a:tr h="511194">
                <a:tc>
                  <a:txBody>
                    <a:bodyPr/>
                    <a:lstStyle/>
                    <a:p>
                      <a:pPr algn="just"/>
                      <a:r>
                        <a:rPr lang="en-US"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Topic Review</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Methodology of the project</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21/01/2023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extLst>
                  <a:ext uri="{0D108BD9-81ED-4DB2-BD59-A6C34878D82A}">
                    <a16:rowId xmlns:a16="http://schemas.microsoft.com/office/drawing/2014/main" val="10001"/>
                  </a:ext>
                </a:extLst>
              </a:tr>
              <a:tr h="511194">
                <a:tc>
                  <a:txBody>
                    <a:bodyPr/>
                    <a:lstStyle/>
                    <a:p>
                      <a:pPr algn="just"/>
                      <a:r>
                        <a:rPr lang="en-US"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Literature survey</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l"/>
                      <a:r>
                        <a:rPr lang="en-US" sz="1400" dirty="0">
                          <a:latin typeface="Times New Roman" panose="02020603050405020304" pitchFamily="18" charset="0"/>
                          <a:cs typeface="Times New Roman" panose="02020603050405020304" pitchFamily="18" charset="0"/>
                        </a:rPr>
                        <a:t>The Survey on the project title from journal papers</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25/01/2023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extLst>
                  <a:ext uri="{0D108BD9-81ED-4DB2-BD59-A6C34878D82A}">
                    <a16:rowId xmlns:a16="http://schemas.microsoft.com/office/drawing/2014/main" val="10002"/>
                  </a:ext>
                </a:extLst>
              </a:tr>
              <a:tr h="511194">
                <a:tc>
                  <a:txBody>
                    <a:bodyPr/>
                    <a:lstStyle/>
                    <a:p>
                      <a:pPr algn="just"/>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Review with Supervisor</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Concept Discussion</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p>
                      <a:pPr algn="just"/>
                      <a:r>
                        <a:rPr lang="en-US" sz="1400" dirty="0">
                          <a:latin typeface="Times New Roman" panose="02020603050405020304" pitchFamily="18" charset="0"/>
                          <a:cs typeface="Times New Roman" panose="02020603050405020304" pitchFamily="18" charset="0"/>
                        </a:rPr>
                        <a:t>01/02/2023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mpd="sng">
                      <a:solidFill>
                        <a:sysClr val="window" lastClr="FFFFFF"/>
                      </a:solidFill>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extLst>
                  <a:ext uri="{0D108BD9-81ED-4DB2-BD59-A6C34878D82A}">
                    <a16:rowId xmlns:a16="http://schemas.microsoft.com/office/drawing/2014/main" val="10003"/>
                  </a:ext>
                </a:extLst>
              </a:tr>
              <a:tr h="511194">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Basic methodology</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How system works</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15/02/2023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40000"/>
                      </a:srgbClr>
                    </a:solidFill>
                  </a:tcPr>
                </a:tc>
                <a:extLst>
                  <a:ext uri="{0D108BD9-81ED-4DB2-BD59-A6C34878D82A}">
                    <a16:rowId xmlns:a16="http://schemas.microsoft.com/office/drawing/2014/main" val="10004"/>
                  </a:ext>
                </a:extLst>
              </a:tr>
              <a:tr h="511194">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5</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kern="1200" dirty="0">
                          <a:solidFill>
                            <a:schemeClr val="dk1"/>
                          </a:solidFill>
                          <a:effectLst/>
                          <a:latin typeface="Times New Roman" panose="02020603050405020304" pitchFamily="18" charset="0"/>
                          <a:ea typeface="+mn-ea"/>
                          <a:cs typeface="Times New Roman" panose="02020603050405020304" pitchFamily="18" charset="0"/>
                        </a:rPr>
                        <a:t>Methodology Implementation</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l" defTabSz="914400" rtl="0" eaLnBrk="1" fontAlgn="auto" latinLnBrk="0" hangingPunct="1">
                        <a:lnSpc>
                          <a:spcPct val="100000"/>
                        </a:lnSpc>
                        <a:spcBef>
                          <a:spcPts val="0"/>
                        </a:spcBef>
                        <a:spcAft>
                          <a:spcPts val="0"/>
                        </a:spcAft>
                        <a:buClrTx/>
                        <a:buSzTx/>
                        <a:buFontTx/>
                        <a:buNone/>
                      </a:pPr>
                      <a:r>
                        <a:rPr lang="en-IN" sz="1400" dirty="0">
                          <a:latin typeface="Times New Roman" panose="02020603050405020304" pitchFamily="18" charset="0"/>
                          <a:cs typeface="Times New Roman" panose="02020603050405020304" pitchFamily="18" charset="0"/>
                        </a:rPr>
                        <a:t>Implementation of Proposed scheme</a:t>
                      </a: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25/02/2023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20000"/>
                      </a:srgbClr>
                    </a:solidFill>
                  </a:tcPr>
                </a:tc>
                <a:extLst>
                  <a:ext uri="{0D108BD9-81ED-4DB2-BD59-A6C34878D82A}">
                    <a16:rowId xmlns:a16="http://schemas.microsoft.com/office/drawing/2014/main" val="10005"/>
                  </a:ext>
                </a:extLst>
              </a:tr>
              <a:tr h="511194">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6</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just" defTabSz="914400" rtl="0" eaLnBrk="1" fontAlgn="auto" latinLnBrk="0" hangingPunct="1">
                        <a:lnSpc>
                          <a:spcPct val="100000"/>
                        </a:lnSpc>
                        <a:spcBef>
                          <a:spcPts val="0"/>
                        </a:spcBef>
                        <a:spcAft>
                          <a:spcPts val="0"/>
                        </a:spcAft>
                        <a:buClrTx/>
                        <a:buSzTx/>
                        <a:buFontTx/>
                        <a:buNone/>
                      </a:pPr>
                      <a:r>
                        <a:rPr lang="en-US" sz="1400" dirty="0">
                          <a:latin typeface="Times New Roman" panose="02020603050405020304" pitchFamily="18" charset="0"/>
                          <a:cs typeface="Times New Roman" panose="02020603050405020304" pitchFamily="18" charset="0"/>
                        </a:rPr>
                        <a:t>S</a:t>
                      </a:r>
                      <a:r>
                        <a:rPr lang="en-US" sz="1400">
                          <a:latin typeface="Times New Roman" panose="02020603050405020304" pitchFamily="18" charset="0"/>
                          <a:cs typeface="Times New Roman" panose="02020603050405020304" pitchFamily="18" charset="0"/>
                        </a:rPr>
                        <a:t>oftware </a:t>
                      </a:r>
                      <a:r>
                        <a:rPr lang="en-US" sz="1400" dirty="0">
                          <a:latin typeface="Times New Roman" panose="02020603050405020304" pitchFamily="18" charset="0"/>
                          <a:cs typeface="Times New Roman" panose="02020603050405020304" pitchFamily="18" charset="0"/>
                        </a:rPr>
                        <a:t>implementation</a:t>
                      </a:r>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just" defTabSz="914400" rtl="0" eaLnBrk="1" fontAlgn="auto" latinLnBrk="0" hangingPunct="1">
                        <a:lnSpc>
                          <a:spcPct val="100000"/>
                        </a:lnSpc>
                        <a:spcBef>
                          <a:spcPts val="0"/>
                        </a:spcBef>
                        <a:spcAft>
                          <a:spcPts val="0"/>
                        </a:spcAft>
                        <a:buClrTx/>
                        <a:buSzTx/>
                        <a:buFontTx/>
                        <a:buNone/>
                      </a:pPr>
                      <a:r>
                        <a:rPr lang="en-US" sz="1400" dirty="0">
                          <a:latin typeface="Times New Roman" panose="02020603050405020304" pitchFamily="18" charset="0"/>
                          <a:cs typeface="Times New Roman" panose="02020603050405020304" pitchFamily="18" charset="0"/>
                        </a:rPr>
                        <a:t>Implementation of code</a:t>
                      </a:r>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just" defTabSz="914400" rtl="0" eaLnBrk="1" fontAlgn="auto" latinLnBrk="0" hangingPunct="1">
                        <a:lnSpc>
                          <a:spcPct val="100000"/>
                        </a:lnSpc>
                        <a:spcBef>
                          <a:spcPts val="0"/>
                        </a:spcBef>
                        <a:spcAft>
                          <a:spcPts val="0"/>
                        </a:spcAft>
                        <a:buClrTx/>
                        <a:buSzTx/>
                        <a:buFontTx/>
                        <a:buNone/>
                      </a:pPr>
                      <a:r>
                        <a:rPr lang="en-US" sz="1400" dirty="0">
                          <a:latin typeface="Times New Roman" panose="02020603050405020304" pitchFamily="18" charset="0"/>
                          <a:cs typeface="Times New Roman" panose="02020603050405020304" pitchFamily="18" charset="0"/>
                        </a:rPr>
                        <a:t>10/03/2023</a:t>
                      </a:r>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40000"/>
                      </a:srgbClr>
                    </a:solidFill>
                  </a:tcPr>
                </a:tc>
                <a:extLst>
                  <a:ext uri="{0D108BD9-81ED-4DB2-BD59-A6C34878D82A}">
                    <a16:rowId xmlns:a16="http://schemas.microsoft.com/office/drawing/2014/main" val="10006"/>
                  </a:ext>
                </a:extLst>
              </a:tr>
              <a:tr h="511194">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7</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IN" sz="1400" dirty="0">
                          <a:latin typeface="Times New Roman" panose="02020603050405020304" pitchFamily="18" charset="0"/>
                          <a:cs typeface="Times New Roman" panose="02020603050405020304" pitchFamily="18" charset="0"/>
                        </a:rPr>
                        <a:t>Trial Run</a:t>
                      </a: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Checking the result of the  project</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ysClr val="window" lastClr="FFFFFF"/>
                      </a:solidFill>
                      <a:prstDash val="solid"/>
                      <a:round/>
                      <a:headEnd type="none" w="med" len="med"/>
                      <a:tailEnd type="none" w="med" len="med"/>
                    </a:lnL>
                    <a:lnR w="12700" cmpd="sng">
                      <a:solidFill>
                        <a:sysClr val="window" lastClr="FFFFFF"/>
                      </a:solidFill>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DDC855">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just"/>
                      <a:r>
                        <a:rPr lang="en-US" sz="1400" dirty="0">
                          <a:latin typeface="Times New Roman" panose="02020603050405020304" pitchFamily="18" charset="0"/>
                          <a:cs typeface="Times New Roman" panose="02020603050405020304" pitchFamily="18" charset="0"/>
                        </a:rPr>
                        <a:t>20/03/2023</a:t>
                      </a:r>
                      <a:endParaRPr lang="en-IN" sz="1400" dirty="0">
                        <a:latin typeface="Times New Roman" panose="02020603050405020304" pitchFamily="18" charset="0"/>
                        <a:cs typeface="Times New Roman" panose="02020603050405020304" pitchFamily="18" charset="0"/>
                      </a:endParaRPr>
                    </a:p>
                  </a:txBody>
                  <a:tcPr marL="68580" marR="68580" marT="34290" marB="3429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DC855">
                        <a:tint val="20000"/>
                      </a:srgbClr>
                    </a:solidFill>
                  </a:tcPr>
                </a:tc>
                <a:extLst>
                  <a:ext uri="{0D108BD9-81ED-4DB2-BD59-A6C34878D82A}">
                    <a16:rowId xmlns:a16="http://schemas.microsoft.com/office/drawing/2014/main" val="10007"/>
                  </a:ext>
                </a:extLst>
              </a:tr>
            </a:tbl>
          </a:graphicData>
        </a:graphic>
      </p:graphicFrame>
      <p:sp>
        <p:nvSpPr>
          <p:cNvPr id="1048633" name="TextBox 4"/>
          <p:cNvSpPr txBox="1"/>
          <p:nvPr/>
        </p:nvSpPr>
        <p:spPr>
          <a:xfrm>
            <a:off x="477137" y="1057964"/>
            <a:ext cx="4572000" cy="507831"/>
          </a:xfrm>
          <a:prstGeom prst="rect">
            <a:avLst/>
          </a:prstGeom>
          <a:noFill/>
        </p:spPr>
        <p:txBody>
          <a:bodyPr wrap="square">
            <a:spAutoFit/>
          </a:bodyPr>
          <a:lstStyle/>
          <a:p>
            <a:r>
              <a:rPr lang="en-IN" sz="2700" b="1" dirty="0">
                <a:latin typeface="Times New Roman" panose="02020603050405020304" pitchFamily="18" charset="0"/>
                <a:cs typeface="Times New Roman" panose="02020603050405020304" pitchFamily="18" charset="0"/>
              </a:rPr>
              <a:t>PROJECT TIME PLAN</a:t>
            </a:r>
            <a:endParaRPr lang="en-IN" sz="27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Title 1"/>
          <p:cNvSpPr>
            <a:spLocks noGrp="1"/>
          </p:cNvSpPr>
          <p:nvPr>
            <p:ph type="title"/>
          </p:nvPr>
        </p:nvSpPr>
        <p:spPr>
          <a:xfrm>
            <a:off x="685331" y="457200"/>
            <a:ext cx="7773338" cy="1596177"/>
          </a:xfrm>
        </p:spPr>
        <p:txBody>
          <a:bodyPr/>
          <a:lstStyle/>
          <a:p>
            <a:r>
              <a:rPr lang="en-US" sz="2600" b="1" dirty="0">
                <a:latin typeface="Times New Roman" panose="02020603050405020304" pitchFamily="18" charset="0"/>
                <a:cs typeface="Times New Roman" panose="02020603050405020304" pitchFamily="18" charset="0"/>
              </a:rPr>
              <a:t>CONCLUSION</a:t>
            </a:r>
            <a:br>
              <a:rPr lang="en-US" dirty="0"/>
            </a:br>
            <a:endParaRPr lang="en-US" dirty="0"/>
          </a:p>
        </p:txBody>
      </p:sp>
      <p:sp>
        <p:nvSpPr>
          <p:cNvPr id="1048635" name="Content Placeholder 5"/>
          <p:cNvSpPr>
            <a:spLocks noGrp="1"/>
          </p:cNvSpPr>
          <p:nvPr>
            <p:ph idx="1"/>
          </p:nvPr>
        </p:nvSpPr>
        <p:spPr>
          <a:xfrm>
            <a:off x="685331" y="1676400"/>
            <a:ext cx="7773339" cy="4206875"/>
          </a:xfrm>
        </p:spPr>
        <p:txBody>
          <a:bodyPr>
            <a:normAutofit/>
          </a:bodyPr>
          <a:lstStyle/>
          <a:p>
            <a:pPr algn="just"/>
            <a:r>
              <a:rPr lang="en-US" sz="2300" cap="none" dirty="0">
                <a:latin typeface="Times New Roman" panose="02020603050405020304" pitchFamily="18" charset="0"/>
                <a:cs typeface="Times New Roman" panose="02020603050405020304" pitchFamily="18" charset="0"/>
              </a:rPr>
              <a:t> </a:t>
            </a:r>
            <a:r>
              <a:rPr lang="en-US" sz="1800" cap="none" dirty="0">
                <a:latin typeface="Times New Roman" panose="02020603050405020304" pitchFamily="18" charset="0"/>
                <a:cs typeface="Times New Roman" panose="02020603050405020304" pitchFamily="18" charset="0"/>
              </a:rPr>
              <a:t>This project aimed to develop a system for detecting the freshness and ripeness of fruits based on their temperature using an LM35 sensor and a deep learning algorithm. Additionally, the proposed system aimed to classify fruits as organic or non-organic based on the readings obtained from an MQ sensor. The results of this project showed that the proposed method can accurately detect the quality of fruits, providing an automated solution for food quality control and inspection. The proposed system can potentially contribute to reducing food waste and improving the quality of food products in the food industry..</a:t>
            </a:r>
            <a:endParaRPr lang="en-US" sz="1800" dirty="0">
              <a:latin typeface="Times New Roman" panose="02020603050405020304" pitchFamily="18" charset="0"/>
              <a:cs typeface="Times New Roman" panose="02020603050405020304" pitchFamily="18" charset="0"/>
            </a:endParaRPr>
          </a:p>
        </p:txBody>
      </p:sp>
      <p:sp>
        <p:nvSpPr>
          <p:cNvPr id="1048636" name="Date Placeholder 2"/>
          <p:cNvSpPr>
            <a:spLocks noGrp="1"/>
          </p:cNvSpPr>
          <p:nvPr>
            <p:ph type="dt" sz="half" idx="10"/>
          </p:nvPr>
        </p:nvSpPr>
        <p:spPr/>
        <p:txBody>
          <a:bodyPr/>
          <a:lstStyle/>
          <a:p>
            <a:fld id="{909096E9-518F-4632-A6C3-F5ACA0892BA2}" type="datetime1">
              <a:rPr lang="en-IN" smtClean="0"/>
              <a:t>10-03-2023</a:t>
            </a:fld>
            <a:endParaRPr lang="en-IN"/>
          </a:p>
        </p:txBody>
      </p:sp>
      <p:sp>
        <p:nvSpPr>
          <p:cNvPr id="1048637" name="Footer Placeholder 3"/>
          <p:cNvSpPr>
            <a:spLocks noGrp="1"/>
          </p:cNvSpPr>
          <p:nvPr>
            <p:ph type="ftr" sz="quarter" idx="11"/>
          </p:nvPr>
        </p:nvSpPr>
        <p:spPr/>
        <p:txBody>
          <a:bodyPr/>
          <a:lstStyle/>
          <a:p>
            <a:r>
              <a:rPr lang="en-IN"/>
              <a:t>BATCH NO:                   PRESENTED DATE:</a:t>
            </a:r>
          </a:p>
        </p:txBody>
      </p:sp>
      <p:sp>
        <p:nvSpPr>
          <p:cNvPr id="1048638" name="Slide Number Placeholder 4"/>
          <p:cNvSpPr>
            <a:spLocks noGrp="1"/>
          </p:cNvSpPr>
          <p:nvPr>
            <p:ph type="sldNum" sz="quarter" idx="12"/>
          </p:nvPr>
        </p:nvSpPr>
        <p:spPr/>
        <p:txBody>
          <a:bodyPr/>
          <a:lstStyle/>
          <a:p>
            <a:fld id="{669AD40C-E5A7-4132-A31D-54A4D1BB6E89}" type="slidenum">
              <a:rPr lang="en-IN" smtClean="0"/>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BC5FF-D7EF-6415-8864-A27733B76C32}"/>
              </a:ext>
            </a:extLst>
          </p:cNvPr>
          <p:cNvSpPr>
            <a:spLocks noGrp="1"/>
          </p:cNvSpPr>
          <p:nvPr>
            <p:ph type="title"/>
          </p:nvPr>
        </p:nvSpPr>
        <p:spPr/>
        <p:txBody>
          <a:bodyPr>
            <a:normAutofit/>
          </a:bodyPr>
          <a:lstStyle/>
          <a:p>
            <a:r>
              <a:rPr lang="en-US" sz="3000" dirty="0">
                <a:latin typeface="Times New Roman" panose="02020603050405020304" pitchFamily="18" charset="0"/>
                <a:cs typeface="Times New Roman" panose="02020603050405020304" pitchFamily="18" charset="0"/>
              </a:rPr>
              <a:t>Furture work</a:t>
            </a:r>
          </a:p>
        </p:txBody>
      </p:sp>
      <p:sp>
        <p:nvSpPr>
          <p:cNvPr id="3" name="Content Placeholder 2">
            <a:extLst>
              <a:ext uri="{FF2B5EF4-FFF2-40B4-BE49-F238E27FC236}">
                <a16:creationId xmlns:a16="http://schemas.microsoft.com/office/drawing/2014/main" id="{86E973E3-D347-43FE-ED30-CA757D3907DF}"/>
              </a:ext>
            </a:extLst>
          </p:cNvPr>
          <p:cNvSpPr>
            <a:spLocks noGrp="1"/>
          </p:cNvSpPr>
          <p:nvPr>
            <p:ph idx="1"/>
          </p:nvPr>
        </p:nvSpPr>
        <p:spPr/>
        <p:txBody>
          <a:bodyPr>
            <a:normAutofit/>
          </a:bodyPr>
          <a:lstStyle/>
          <a:p>
            <a:r>
              <a:rPr lang="en-US" sz="1800" cap="none" dirty="0">
                <a:latin typeface="Times New Roman" panose="02020603050405020304" pitchFamily="18" charset="0"/>
                <a:cs typeface="Times New Roman" panose="02020603050405020304" pitchFamily="18" charset="0"/>
              </a:rPr>
              <a:t>Further research can be conducted to explore the scalability of the proposed system and to evaluate its performance in a real-world environment. This project demonstrates the potential of image classification technology in improving food quality in public schools. The proposed system has significant implications for food safety, waste reduction, and public health, and has the potential to be implemented in other food service industries</a:t>
            </a:r>
          </a:p>
        </p:txBody>
      </p:sp>
      <p:sp>
        <p:nvSpPr>
          <p:cNvPr id="4" name="Date Placeholder 3">
            <a:extLst>
              <a:ext uri="{FF2B5EF4-FFF2-40B4-BE49-F238E27FC236}">
                <a16:creationId xmlns:a16="http://schemas.microsoft.com/office/drawing/2014/main" id="{6F1856EC-48A6-1ED3-A0EA-5A21BA7F8E8D}"/>
              </a:ext>
            </a:extLst>
          </p:cNvPr>
          <p:cNvSpPr>
            <a:spLocks noGrp="1"/>
          </p:cNvSpPr>
          <p:nvPr>
            <p:ph type="dt" sz="half" idx="10"/>
          </p:nvPr>
        </p:nvSpPr>
        <p:spPr/>
        <p:txBody>
          <a:bodyPr/>
          <a:lstStyle/>
          <a:p>
            <a:fld id="{8F4FA0F5-6424-40BF-B8B7-4C330280225C}" type="datetime1">
              <a:rPr lang="en-IN" smtClean="0"/>
              <a:t>10-03-2023</a:t>
            </a:fld>
            <a:endParaRPr lang="en-IN"/>
          </a:p>
        </p:txBody>
      </p:sp>
      <p:sp>
        <p:nvSpPr>
          <p:cNvPr id="5" name="Footer Placeholder 4">
            <a:extLst>
              <a:ext uri="{FF2B5EF4-FFF2-40B4-BE49-F238E27FC236}">
                <a16:creationId xmlns:a16="http://schemas.microsoft.com/office/drawing/2014/main" id="{31FE3DAE-7464-DE15-19C5-BBADCC4CE923}"/>
              </a:ext>
            </a:extLst>
          </p:cNvPr>
          <p:cNvSpPr>
            <a:spLocks noGrp="1"/>
          </p:cNvSpPr>
          <p:nvPr>
            <p:ph type="ftr" sz="quarter" idx="11"/>
          </p:nvPr>
        </p:nvSpPr>
        <p:spPr/>
        <p:txBody>
          <a:bodyPr/>
          <a:lstStyle/>
          <a:p>
            <a:r>
              <a:rPr lang="en-IN"/>
              <a:t>BATCH NO:                   PRESENTED DATE:</a:t>
            </a:r>
          </a:p>
        </p:txBody>
      </p:sp>
      <p:sp>
        <p:nvSpPr>
          <p:cNvPr id="6" name="Slide Number Placeholder 5">
            <a:extLst>
              <a:ext uri="{FF2B5EF4-FFF2-40B4-BE49-F238E27FC236}">
                <a16:creationId xmlns:a16="http://schemas.microsoft.com/office/drawing/2014/main" id="{608F0D32-3FE9-76CA-6897-D2610151FBCF}"/>
              </a:ext>
            </a:extLst>
          </p:cNvPr>
          <p:cNvSpPr>
            <a:spLocks noGrp="1"/>
          </p:cNvSpPr>
          <p:nvPr>
            <p:ph type="sldNum" sz="quarter" idx="12"/>
          </p:nvPr>
        </p:nvSpPr>
        <p:spPr/>
        <p:txBody>
          <a:bodyPr/>
          <a:lstStyle/>
          <a:p>
            <a:fld id="{669AD40C-E5A7-4132-A31D-54A4D1BB6E89}" type="slidenum">
              <a:rPr lang="en-IN" smtClean="0"/>
              <a:t>14</a:t>
            </a:fld>
            <a:endParaRPr lang="en-IN"/>
          </a:p>
        </p:txBody>
      </p:sp>
    </p:spTree>
    <p:extLst>
      <p:ext uri="{BB962C8B-B14F-4D97-AF65-F5344CB8AC3E}">
        <p14:creationId xmlns:p14="http://schemas.microsoft.com/office/powerpoint/2010/main" val="624461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Title 1"/>
          <p:cNvSpPr>
            <a:spLocks noGrp="1"/>
          </p:cNvSpPr>
          <p:nvPr>
            <p:ph type="title"/>
          </p:nvPr>
        </p:nvSpPr>
        <p:spPr>
          <a:xfrm>
            <a:off x="685331" y="-16933"/>
            <a:ext cx="7773338" cy="1596177"/>
          </a:xfrm>
        </p:spPr>
        <p:txBody>
          <a:bodyPr>
            <a:normAutofit/>
          </a:bodyPr>
          <a:lstStyle/>
          <a:p>
            <a:r>
              <a:rPr sz="2600" b="1" dirty="0">
                <a:latin typeface="Times New Roman"/>
                <a:cs typeface="Times New Roman"/>
              </a:rPr>
              <a:t>REFERENCES</a:t>
            </a:r>
            <a:endParaRPr sz="2600" dirty="0"/>
          </a:p>
        </p:txBody>
      </p:sp>
      <p:sp>
        <p:nvSpPr>
          <p:cNvPr id="1048644" name="Title 1"/>
          <p:cNvSpPr>
            <a:spLocks noGrp="1"/>
          </p:cNvSpPr>
          <p:nvPr>
            <p:ph idx="4294967295"/>
          </p:nvPr>
        </p:nvSpPr>
        <p:spPr>
          <a:xfrm>
            <a:off x="609600" y="1600200"/>
            <a:ext cx="7620000" cy="4525963"/>
          </a:xfrm>
        </p:spPr>
        <p:txBody>
          <a:bodyPr>
            <a:normAutofit fontScale="77500" lnSpcReduction="20000"/>
          </a:bodyPr>
          <a:lstStyle/>
          <a:p>
            <a:r>
              <a:rPr lang="en-US" sz="2600" cap="none" dirty="0">
                <a:latin typeface="Times New Roman" panose="02020603050405020304" pitchFamily="18" charset="0"/>
                <a:cs typeface="Times New Roman" panose="02020603050405020304" pitchFamily="18" charset="0"/>
              </a:rPr>
              <a:t> [1] c. A. Medina, M. R. Perez, and L. C. Trujillo, ‘‘</a:t>
            </a:r>
            <a:r>
              <a:rPr lang="en-US" sz="2600" cap="none" dirty="0" err="1">
                <a:latin typeface="Times New Roman" panose="02020603050405020304" pitchFamily="18" charset="0"/>
                <a:cs typeface="Times New Roman" panose="02020603050405020304" pitchFamily="18" charset="0"/>
              </a:rPr>
              <a:t>iot</a:t>
            </a:r>
            <a:r>
              <a:rPr lang="en-US" sz="2600" cap="none" dirty="0">
                <a:latin typeface="Times New Roman" panose="02020603050405020304" pitchFamily="18" charset="0"/>
                <a:cs typeface="Times New Roman" panose="02020603050405020304" pitchFamily="18" charset="0"/>
              </a:rPr>
              <a:t> paradigm into the smart city vision: A survey,’’ in proc. IEEE int. Conf. Internet things (ithings) IEEE green </a:t>
            </a:r>
            <a:r>
              <a:rPr lang="en-US" sz="2600" cap="none" dirty="0" err="1">
                <a:latin typeface="Times New Roman" panose="02020603050405020304" pitchFamily="18" charset="0"/>
                <a:cs typeface="Times New Roman" panose="02020603050405020304" pitchFamily="18" charset="0"/>
              </a:rPr>
              <a:t>comput</a:t>
            </a:r>
            <a:r>
              <a:rPr lang="en-US" sz="2600" cap="none" dirty="0">
                <a:latin typeface="Times New Roman" panose="02020603050405020304" pitchFamily="18" charset="0"/>
                <a:cs typeface="Times New Roman" panose="02020603050405020304" pitchFamily="18" charset="0"/>
              </a:rPr>
              <a:t>. </a:t>
            </a:r>
            <a:r>
              <a:rPr lang="en-US" sz="2600" cap="none" dirty="0" err="1">
                <a:latin typeface="Times New Roman" panose="02020603050405020304" pitchFamily="18" charset="0"/>
                <a:cs typeface="Times New Roman" panose="02020603050405020304" pitchFamily="18" charset="0"/>
              </a:rPr>
              <a:t>Commun</a:t>
            </a:r>
            <a:r>
              <a:rPr lang="en-US" sz="2600" cap="none" dirty="0">
                <a:latin typeface="Times New Roman" panose="02020603050405020304" pitchFamily="18" charset="0"/>
                <a:cs typeface="Times New Roman" panose="02020603050405020304" pitchFamily="18" charset="0"/>
              </a:rPr>
              <a:t>. (</a:t>
            </a:r>
            <a:r>
              <a:rPr lang="en-US" sz="2600" cap="none" dirty="0" err="1">
                <a:latin typeface="Times New Roman" panose="02020603050405020304" pitchFamily="18" charset="0"/>
                <a:cs typeface="Times New Roman" panose="02020603050405020304" pitchFamily="18" charset="0"/>
              </a:rPr>
              <a:t>Greencom</a:t>
            </a:r>
            <a:r>
              <a:rPr lang="en-US" sz="2600" cap="none" dirty="0">
                <a:latin typeface="Times New Roman" panose="02020603050405020304" pitchFamily="18" charset="0"/>
                <a:cs typeface="Times New Roman" panose="02020603050405020304" pitchFamily="18" charset="0"/>
              </a:rPr>
              <a:t>) IEEE cyber, phys. Social </a:t>
            </a:r>
            <a:r>
              <a:rPr lang="en-US" sz="2600" cap="none" dirty="0" err="1">
                <a:latin typeface="Times New Roman" panose="02020603050405020304" pitchFamily="18" charset="0"/>
                <a:cs typeface="Times New Roman" panose="02020603050405020304" pitchFamily="18" charset="0"/>
              </a:rPr>
              <a:t>comput</a:t>
            </a:r>
            <a:r>
              <a:rPr lang="en-US" sz="2600" cap="none" dirty="0">
                <a:latin typeface="Times New Roman" panose="02020603050405020304" pitchFamily="18" charset="0"/>
                <a:cs typeface="Times New Roman" panose="02020603050405020304" pitchFamily="18" charset="0"/>
              </a:rPr>
              <a:t>. (</a:t>
            </a:r>
            <a:r>
              <a:rPr lang="en-US" sz="2600" cap="none" dirty="0" err="1">
                <a:latin typeface="Times New Roman" panose="02020603050405020304" pitchFamily="18" charset="0"/>
                <a:cs typeface="Times New Roman" panose="02020603050405020304" pitchFamily="18" charset="0"/>
              </a:rPr>
              <a:t>Cpscom</a:t>
            </a:r>
            <a:r>
              <a:rPr lang="en-US" sz="2600" cap="none" dirty="0">
                <a:latin typeface="Times New Roman" panose="02020603050405020304" pitchFamily="18" charset="0"/>
                <a:cs typeface="Times New Roman" panose="02020603050405020304" pitchFamily="18" charset="0"/>
              </a:rPr>
              <a:t>) IEEE smart data (</a:t>
            </a:r>
            <a:r>
              <a:rPr lang="en-US" sz="2600" cap="none" dirty="0" err="1">
                <a:latin typeface="Times New Roman" panose="02020603050405020304" pitchFamily="18" charset="0"/>
                <a:cs typeface="Times New Roman" panose="02020603050405020304" pitchFamily="18" charset="0"/>
              </a:rPr>
              <a:t>smartdata</a:t>
            </a:r>
            <a:r>
              <a:rPr lang="en-US" sz="2600" cap="none" dirty="0">
                <a:latin typeface="Times New Roman" panose="02020603050405020304" pitchFamily="18" charset="0"/>
                <a:cs typeface="Times New Roman" panose="02020603050405020304" pitchFamily="18" charset="0"/>
              </a:rPr>
              <a:t>), </a:t>
            </a:r>
            <a:r>
              <a:rPr lang="en-US" sz="2600" cap="none" dirty="0" err="1">
                <a:latin typeface="Times New Roman" panose="02020603050405020304" pitchFamily="18" charset="0"/>
                <a:cs typeface="Times New Roman" panose="02020603050405020304" pitchFamily="18" charset="0"/>
              </a:rPr>
              <a:t>exeter</a:t>
            </a:r>
            <a:r>
              <a:rPr lang="en-US" sz="2600" cap="none" dirty="0">
                <a:latin typeface="Times New Roman" panose="02020603050405020304" pitchFamily="18" charset="0"/>
                <a:cs typeface="Times New Roman" panose="02020603050405020304" pitchFamily="18" charset="0"/>
              </a:rPr>
              <a:t>, U.K., Jun. 2017, pp. 695–704.</a:t>
            </a:r>
          </a:p>
          <a:p>
            <a:r>
              <a:rPr lang="en-US" sz="2600" cap="none" dirty="0">
                <a:latin typeface="Times New Roman" panose="02020603050405020304" pitchFamily="18" charset="0"/>
                <a:cs typeface="Times New Roman" panose="02020603050405020304" pitchFamily="18" charset="0"/>
              </a:rPr>
              <a:t> [2] m. Umar and W. </a:t>
            </a:r>
            <a:r>
              <a:rPr lang="en-US" sz="2600" cap="none" dirty="0" err="1">
                <a:latin typeface="Times New Roman" panose="02020603050405020304" pitchFamily="18" charset="0"/>
                <a:cs typeface="Times New Roman" panose="02020603050405020304" pitchFamily="18" charset="0"/>
              </a:rPr>
              <a:t>Uhl</a:t>
            </a:r>
            <a:r>
              <a:rPr lang="en-US" sz="2600" cap="none" dirty="0">
                <a:latin typeface="Times New Roman" panose="02020603050405020304" pitchFamily="18" charset="0"/>
                <a:cs typeface="Times New Roman" panose="02020603050405020304" pitchFamily="18" charset="0"/>
              </a:rPr>
              <a:t>, ‘‘integrative review of decentralized and local water management concepts as part of smart cities (</a:t>
            </a:r>
            <a:r>
              <a:rPr lang="en-US" sz="2600" cap="none" dirty="0" err="1">
                <a:latin typeface="Times New Roman" panose="02020603050405020304" pitchFamily="18" charset="0"/>
                <a:cs typeface="Times New Roman" panose="02020603050405020304" pitchFamily="18" charset="0"/>
              </a:rPr>
              <a:t>lowasmart</a:t>
            </a:r>
            <a:r>
              <a:rPr lang="en-US" sz="2600" cap="none" dirty="0">
                <a:latin typeface="Times New Roman" panose="02020603050405020304" pitchFamily="18" charset="0"/>
                <a:cs typeface="Times New Roman" panose="02020603050405020304" pitchFamily="18" charset="0"/>
              </a:rPr>
              <a:t>),’’ </a:t>
            </a:r>
            <a:r>
              <a:rPr lang="en-US" sz="2600" cap="none" dirty="0" err="1">
                <a:latin typeface="Times New Roman" panose="02020603050405020304" pitchFamily="18" charset="0"/>
                <a:cs typeface="Times New Roman" panose="02020603050405020304" pitchFamily="18" charset="0"/>
              </a:rPr>
              <a:t>norwegian</a:t>
            </a:r>
            <a:r>
              <a:rPr lang="en-US" sz="2600" cap="none" dirty="0">
                <a:latin typeface="Times New Roman" panose="02020603050405020304" pitchFamily="18" charset="0"/>
                <a:cs typeface="Times New Roman" panose="02020603050405020304" pitchFamily="18" charset="0"/>
              </a:rPr>
              <a:t> inst. Water res., Oslo, </a:t>
            </a:r>
            <a:r>
              <a:rPr lang="en-US" sz="2600" cap="none" dirty="0" err="1">
                <a:latin typeface="Times New Roman" panose="02020603050405020304" pitchFamily="18" charset="0"/>
                <a:cs typeface="Times New Roman" panose="02020603050405020304" pitchFamily="18" charset="0"/>
              </a:rPr>
              <a:t>norway</a:t>
            </a:r>
            <a:r>
              <a:rPr lang="en-US" sz="2600" cap="none" dirty="0">
                <a:latin typeface="Times New Roman" panose="02020603050405020304" pitchFamily="18" charset="0"/>
                <a:cs typeface="Times New Roman" panose="02020603050405020304" pitchFamily="18" charset="0"/>
              </a:rPr>
              <a:t>, tech. Rep. 7058-2016, 2016. </a:t>
            </a:r>
          </a:p>
          <a:p>
            <a:r>
              <a:rPr lang="en-US" sz="2600" cap="none" dirty="0">
                <a:latin typeface="Times New Roman" panose="02020603050405020304" pitchFamily="18" charset="0"/>
                <a:cs typeface="Times New Roman" panose="02020603050405020304" pitchFamily="18" charset="0"/>
              </a:rPr>
              <a:t>[3] s. J. </a:t>
            </a:r>
            <a:r>
              <a:rPr lang="en-US" sz="2600" cap="none" dirty="0" err="1">
                <a:latin typeface="Times New Roman" panose="02020603050405020304" pitchFamily="18" charset="0"/>
                <a:cs typeface="Times New Roman" panose="02020603050405020304" pitchFamily="18" charset="0"/>
              </a:rPr>
              <a:t>Livesley</a:t>
            </a:r>
            <a:r>
              <a:rPr lang="en-US" sz="2600" cap="none" dirty="0">
                <a:latin typeface="Times New Roman" panose="02020603050405020304" pitchFamily="18" charset="0"/>
                <a:cs typeface="Times New Roman" panose="02020603050405020304" pitchFamily="18" charset="0"/>
              </a:rPr>
              <a:t>, V. Marchionni, P. K. Cheung, E. Daly, and D. E. Pataki, ‘‘water smart cities increase irrigation to provide cool refuge in a climate crisis,’’ earth’s future, vol. 9, no. 1, </a:t>
            </a:r>
            <a:r>
              <a:rPr lang="en-US" sz="2600" cap="none" dirty="0" err="1">
                <a:latin typeface="Times New Roman" panose="02020603050405020304" pitchFamily="18" charset="0"/>
                <a:cs typeface="Times New Roman" panose="02020603050405020304" pitchFamily="18" charset="0"/>
              </a:rPr>
              <a:t>jan.</a:t>
            </a:r>
            <a:r>
              <a:rPr lang="en-US" sz="2600" cap="none" dirty="0">
                <a:latin typeface="Times New Roman" panose="02020603050405020304" pitchFamily="18" charset="0"/>
                <a:cs typeface="Times New Roman" panose="02020603050405020304" pitchFamily="18" charset="0"/>
              </a:rPr>
              <a:t> 2021. E2020ef001806 </a:t>
            </a:r>
          </a:p>
          <a:p>
            <a:pPr algn="just">
              <a:lnSpc>
                <a:spcPct val="150000"/>
              </a:lnSpc>
              <a:buFont typeface="Wingdings" panose="05000000000000000000" pitchFamily="2" charset="2"/>
              <a:buChar char="Ø"/>
            </a:pPr>
            <a:r>
              <a:rPr lang="en-US" sz="1800" cap="none" dirty="0">
                <a:latin typeface="Times New Roman"/>
                <a:cs typeface="Times New Roman"/>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Content Placeholder 2"/>
          <p:cNvSpPr>
            <a:spLocks noGrp="1"/>
          </p:cNvSpPr>
          <p:nvPr>
            <p:ph idx="1"/>
          </p:nvPr>
        </p:nvSpPr>
        <p:spPr>
          <a:xfrm>
            <a:off x="457200" y="1066804"/>
            <a:ext cx="8229600" cy="5111911"/>
          </a:xfrm>
        </p:spPr>
        <p:txBody>
          <a:bodyPr>
            <a:normAutofit fontScale="92500" lnSpcReduction="10000"/>
          </a:bodyPr>
          <a:lstStyle/>
          <a:p>
            <a:r>
              <a:rPr lang="en-US" sz="1800" cap="none" dirty="0">
                <a:latin typeface="Times New Roman"/>
                <a:cs typeface="Times New Roman"/>
              </a:rPr>
              <a:t> </a:t>
            </a:r>
            <a:r>
              <a:rPr lang="en-US" sz="2300" cap="none" dirty="0">
                <a:latin typeface="Times New Roman" panose="02020603050405020304" pitchFamily="18" charset="0"/>
                <a:cs typeface="Times New Roman" panose="02020603050405020304" pitchFamily="18" charset="0"/>
              </a:rPr>
              <a:t>[4] l. D. Moro, L. D. </a:t>
            </a:r>
            <a:r>
              <a:rPr lang="en-US" sz="2300" cap="none" dirty="0" err="1">
                <a:latin typeface="Times New Roman" panose="02020603050405020304" pitchFamily="18" charset="0"/>
                <a:cs typeface="Times New Roman" panose="02020603050405020304" pitchFamily="18" charset="0"/>
              </a:rPr>
              <a:t>Gasperina</a:t>
            </a:r>
            <a:r>
              <a:rPr lang="en-US" sz="2300" cap="none" dirty="0">
                <a:latin typeface="Times New Roman" panose="02020603050405020304" pitchFamily="18" charset="0"/>
                <a:cs typeface="Times New Roman" panose="02020603050405020304" pitchFamily="18" charset="0"/>
              </a:rPr>
              <a:t>, R. V. </a:t>
            </a:r>
            <a:r>
              <a:rPr lang="en-US" sz="2300" cap="none" dirty="0" err="1">
                <a:latin typeface="Times New Roman" panose="02020603050405020304" pitchFamily="18" charset="0"/>
                <a:cs typeface="Times New Roman" panose="02020603050405020304" pitchFamily="18" charset="0"/>
              </a:rPr>
              <a:t>Pagnussat</a:t>
            </a:r>
            <a:r>
              <a:rPr lang="en-US" sz="2300" cap="none" dirty="0">
                <a:latin typeface="Times New Roman" panose="02020603050405020304" pitchFamily="18" charset="0"/>
                <a:cs typeface="Times New Roman" panose="02020603050405020304" pitchFamily="18" charset="0"/>
              </a:rPr>
              <a:t>, and L. L. </a:t>
            </a:r>
            <a:r>
              <a:rPr lang="en-US" sz="2300" cap="none" dirty="0" err="1">
                <a:latin typeface="Times New Roman" panose="02020603050405020304" pitchFamily="18" charset="0"/>
                <a:cs typeface="Times New Roman" panose="02020603050405020304" pitchFamily="18" charset="0"/>
              </a:rPr>
              <a:t>Brandli</a:t>
            </a:r>
            <a:r>
              <a:rPr lang="en-US" sz="2300" cap="none" dirty="0">
                <a:latin typeface="Times New Roman" panose="02020603050405020304" pitchFamily="18" charset="0"/>
                <a:cs typeface="Times New Roman" panose="02020603050405020304" pitchFamily="18" charset="0"/>
              </a:rPr>
              <a:t>, ‘‘urban gardens: possibilities of integration with smart practices,’’ in water, energy and food nexus in the context of strategies for climate change mitigation. 2020, pp. 47–58, </a:t>
            </a:r>
            <a:r>
              <a:rPr lang="en-US" sz="2300" cap="none" dirty="0" err="1">
                <a:latin typeface="Times New Roman" panose="02020603050405020304" pitchFamily="18" charset="0"/>
                <a:cs typeface="Times New Roman" panose="02020603050405020304" pitchFamily="18" charset="0"/>
              </a:rPr>
              <a:t>ch.</a:t>
            </a:r>
            <a:r>
              <a:rPr lang="en-US" sz="2300" cap="none" dirty="0">
                <a:latin typeface="Times New Roman" panose="02020603050405020304" pitchFamily="18" charset="0"/>
                <a:cs typeface="Times New Roman" panose="02020603050405020304" pitchFamily="18" charset="0"/>
              </a:rPr>
              <a:t> 4.</a:t>
            </a:r>
          </a:p>
          <a:p>
            <a:r>
              <a:rPr lang="en-US" sz="2300" cap="none" dirty="0">
                <a:latin typeface="Times New Roman" panose="02020603050405020304" pitchFamily="18" charset="0"/>
                <a:cs typeface="Times New Roman" panose="02020603050405020304" pitchFamily="18" charset="0"/>
              </a:rPr>
              <a:t> [5] l. D. Moro, L. D. </a:t>
            </a:r>
            <a:r>
              <a:rPr lang="en-US" sz="2300" cap="none" dirty="0" err="1">
                <a:latin typeface="Times New Roman" panose="02020603050405020304" pitchFamily="18" charset="0"/>
                <a:cs typeface="Times New Roman" panose="02020603050405020304" pitchFamily="18" charset="0"/>
              </a:rPr>
              <a:t>Gasperina</a:t>
            </a:r>
            <a:r>
              <a:rPr lang="en-US" sz="2300" cap="none" dirty="0">
                <a:latin typeface="Times New Roman" panose="02020603050405020304" pitchFamily="18" charset="0"/>
                <a:cs typeface="Times New Roman" panose="02020603050405020304" pitchFamily="18" charset="0"/>
              </a:rPr>
              <a:t>, R. V. </a:t>
            </a:r>
            <a:r>
              <a:rPr lang="en-US" sz="2300" cap="none" dirty="0" err="1">
                <a:latin typeface="Times New Roman" panose="02020603050405020304" pitchFamily="18" charset="0"/>
                <a:cs typeface="Times New Roman" panose="02020603050405020304" pitchFamily="18" charset="0"/>
              </a:rPr>
              <a:t>Pagnussat</a:t>
            </a:r>
            <a:r>
              <a:rPr lang="en-US" sz="2300" cap="none" dirty="0">
                <a:latin typeface="Times New Roman" panose="02020603050405020304" pitchFamily="18" charset="0"/>
                <a:cs typeface="Times New Roman" panose="02020603050405020304" pitchFamily="18" charset="0"/>
              </a:rPr>
              <a:t>, and L. L. </a:t>
            </a:r>
            <a:r>
              <a:rPr lang="en-US" sz="2300" cap="none" dirty="0" err="1">
                <a:latin typeface="Times New Roman" panose="02020603050405020304" pitchFamily="18" charset="0"/>
                <a:cs typeface="Times New Roman" panose="02020603050405020304" pitchFamily="18" charset="0"/>
              </a:rPr>
              <a:t>Brandli</a:t>
            </a:r>
            <a:r>
              <a:rPr lang="en-US" sz="2300" cap="none" dirty="0">
                <a:latin typeface="Times New Roman" panose="02020603050405020304" pitchFamily="18" charset="0"/>
                <a:cs typeface="Times New Roman" panose="02020603050405020304" pitchFamily="18" charset="0"/>
              </a:rPr>
              <a:t>, ‘‘urban gardens: possibilities of integration with smart practices,’’ in water, energy and food nexus in the context of strategies for climate change mitigation. Cham, </a:t>
            </a:r>
            <a:r>
              <a:rPr lang="en-US" sz="2300" cap="none" dirty="0" err="1">
                <a:latin typeface="Times New Roman" panose="02020603050405020304" pitchFamily="18" charset="0"/>
                <a:cs typeface="Times New Roman" panose="02020603050405020304" pitchFamily="18" charset="0"/>
              </a:rPr>
              <a:t>switzerland</a:t>
            </a:r>
            <a:r>
              <a:rPr lang="en-US" sz="2300" cap="none" dirty="0">
                <a:latin typeface="Times New Roman" panose="02020603050405020304" pitchFamily="18" charset="0"/>
                <a:cs typeface="Times New Roman" panose="02020603050405020304" pitchFamily="18" charset="0"/>
              </a:rPr>
              <a:t>: springer, 2020, pp. 47–58.</a:t>
            </a:r>
          </a:p>
          <a:p>
            <a:r>
              <a:rPr lang="en-US" sz="2300" cap="none" dirty="0">
                <a:latin typeface="Times New Roman" panose="02020603050405020304" pitchFamily="18" charset="0"/>
                <a:cs typeface="Times New Roman" panose="02020603050405020304" pitchFamily="18" charset="0"/>
              </a:rPr>
              <a:t> [6] p. Fraga-lamas, M. Celaya-</a:t>
            </a:r>
            <a:r>
              <a:rPr lang="en-US" sz="2300" cap="none" dirty="0" err="1">
                <a:latin typeface="Times New Roman" panose="02020603050405020304" pitchFamily="18" charset="0"/>
                <a:cs typeface="Times New Roman" panose="02020603050405020304" pitchFamily="18" charset="0"/>
              </a:rPr>
              <a:t>echarri</a:t>
            </a:r>
            <a:r>
              <a:rPr lang="en-US" sz="2300" cap="none" dirty="0">
                <a:latin typeface="Times New Roman" panose="02020603050405020304" pitchFamily="18" charset="0"/>
                <a:cs typeface="Times New Roman" panose="02020603050405020304" pitchFamily="18" charset="0"/>
              </a:rPr>
              <a:t>, L. Azpilicueta, P. Lopez-</a:t>
            </a:r>
            <a:r>
              <a:rPr lang="en-US" sz="2300" cap="none" dirty="0" err="1">
                <a:latin typeface="Times New Roman" panose="02020603050405020304" pitchFamily="18" charset="0"/>
                <a:cs typeface="Times New Roman" panose="02020603050405020304" pitchFamily="18" charset="0"/>
              </a:rPr>
              <a:t>iturri</a:t>
            </a:r>
            <a:r>
              <a:rPr lang="en-US" sz="2300" cap="none" dirty="0">
                <a:latin typeface="Times New Roman" panose="02020603050405020304" pitchFamily="18" charset="0"/>
                <a:cs typeface="Times New Roman" panose="02020603050405020304" pitchFamily="18" charset="0"/>
              </a:rPr>
              <a:t>, F. Falcone, and T. M. Fernández-</a:t>
            </a:r>
            <a:r>
              <a:rPr lang="en-US" sz="2300" cap="none" dirty="0" err="1">
                <a:latin typeface="Times New Roman" panose="02020603050405020304" pitchFamily="18" charset="0"/>
                <a:cs typeface="Times New Roman" panose="02020603050405020304" pitchFamily="18" charset="0"/>
              </a:rPr>
              <a:t>caramés</a:t>
            </a:r>
            <a:r>
              <a:rPr lang="en-US" sz="2300" cap="none" dirty="0">
                <a:latin typeface="Times New Roman" panose="02020603050405020304" pitchFamily="18" charset="0"/>
                <a:cs typeface="Times New Roman" panose="02020603050405020304" pitchFamily="18" charset="0"/>
              </a:rPr>
              <a:t>, ‘‘design and empirical validation of a </a:t>
            </a:r>
            <a:r>
              <a:rPr lang="en-US" sz="2300" cap="none" dirty="0" err="1">
                <a:latin typeface="Times New Roman" panose="02020603050405020304" pitchFamily="18" charset="0"/>
                <a:cs typeface="Times New Roman" panose="02020603050405020304" pitchFamily="18" charset="0"/>
              </a:rPr>
              <a:t>lorawan</a:t>
            </a:r>
            <a:r>
              <a:rPr lang="en-US" sz="2300" cap="none" dirty="0">
                <a:latin typeface="Times New Roman" panose="02020603050405020304" pitchFamily="18" charset="0"/>
                <a:cs typeface="Times New Roman" panose="02020603050405020304" pitchFamily="18" charset="0"/>
              </a:rPr>
              <a:t> </a:t>
            </a:r>
            <a:r>
              <a:rPr lang="en-US" sz="2300" cap="none" dirty="0" err="1">
                <a:latin typeface="Times New Roman" panose="02020603050405020304" pitchFamily="18" charset="0"/>
                <a:cs typeface="Times New Roman" panose="02020603050405020304" pitchFamily="18" charset="0"/>
              </a:rPr>
              <a:t>iot</a:t>
            </a:r>
            <a:r>
              <a:rPr lang="en-US" sz="2300" cap="none" dirty="0">
                <a:latin typeface="Times New Roman" panose="02020603050405020304" pitchFamily="18" charset="0"/>
                <a:cs typeface="Times New Roman" panose="02020603050405020304" pitchFamily="18" charset="0"/>
              </a:rPr>
              <a:t> smart irrigation system,’’ multidisciplinary digit. Publishing inst. Proc., Vol. 42, no. 1, p. 62, 2020, </a:t>
            </a:r>
            <a:r>
              <a:rPr lang="en-US" sz="2300" cap="none" dirty="0" err="1">
                <a:latin typeface="Times New Roman" panose="02020603050405020304" pitchFamily="18" charset="0"/>
                <a:cs typeface="Times New Roman" panose="02020603050405020304" pitchFamily="18" charset="0"/>
              </a:rPr>
              <a:t>doi</a:t>
            </a:r>
            <a:r>
              <a:rPr lang="en-US" sz="2300" cap="none" dirty="0">
                <a:latin typeface="Times New Roman" panose="02020603050405020304" pitchFamily="18" charset="0"/>
                <a:cs typeface="Times New Roman" panose="02020603050405020304" pitchFamily="18" charset="0"/>
              </a:rPr>
              <a:t>: 10.3390/ecsa-6-06540</a:t>
            </a:r>
          </a:p>
          <a:p>
            <a:pPr algn="just">
              <a:lnSpc>
                <a:spcPct val="150000"/>
              </a:lnSpc>
              <a:buFont typeface="Wingdings"/>
              <a:buChar char="Ø"/>
            </a:pPr>
            <a:endParaRPr lang="en-US" sz="1800" cap="none" dirty="0">
              <a:latin typeface="Times New Roman"/>
              <a:cs typeface="Times New Roman"/>
            </a:endParaRPr>
          </a:p>
          <a:p>
            <a:pPr marL="0" indent="0">
              <a:lnSpc>
                <a:spcPct val="150000"/>
              </a:lnSpc>
              <a:buNone/>
            </a:pPr>
            <a:endParaRPr sz="1800"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362C6B5-209D-8944-896A-0C3480432301}"/>
              </a:ext>
            </a:extLst>
          </p:cNvPr>
          <p:cNvPicPr>
            <a:picLocks noGrp="1" noChangeAspect="1"/>
          </p:cNvPicPr>
          <p:nvPr>
            <p:ph idx="1"/>
          </p:nvPr>
        </p:nvPicPr>
        <p:blipFill>
          <a:blip r:embed="rId2"/>
          <a:stretch>
            <a:fillRect/>
          </a:stretch>
        </p:blipFill>
        <p:spPr>
          <a:xfrm>
            <a:off x="685800" y="1524001"/>
            <a:ext cx="7772400" cy="4190999"/>
          </a:xfrm>
          <a:prstGeom prst="rect">
            <a:avLst/>
          </a:prstGeom>
        </p:spPr>
      </p:pic>
      <p:sp>
        <p:nvSpPr>
          <p:cNvPr id="4" name="Date Placeholder 3">
            <a:extLst>
              <a:ext uri="{FF2B5EF4-FFF2-40B4-BE49-F238E27FC236}">
                <a16:creationId xmlns:a16="http://schemas.microsoft.com/office/drawing/2014/main" id="{89C6AD2C-B72A-2ECA-7022-EE74E7F729CA}"/>
              </a:ext>
            </a:extLst>
          </p:cNvPr>
          <p:cNvSpPr>
            <a:spLocks noGrp="1"/>
          </p:cNvSpPr>
          <p:nvPr>
            <p:ph type="dt" sz="half" idx="10"/>
          </p:nvPr>
        </p:nvSpPr>
        <p:spPr/>
        <p:txBody>
          <a:bodyPr/>
          <a:lstStyle/>
          <a:p>
            <a:fld id="{8F4FA0F5-6424-40BF-B8B7-4C330280225C}" type="datetime1">
              <a:rPr lang="en-IN" smtClean="0"/>
              <a:t>10-03-2023</a:t>
            </a:fld>
            <a:endParaRPr lang="en-IN"/>
          </a:p>
        </p:txBody>
      </p:sp>
      <p:sp>
        <p:nvSpPr>
          <p:cNvPr id="5" name="Footer Placeholder 4">
            <a:extLst>
              <a:ext uri="{FF2B5EF4-FFF2-40B4-BE49-F238E27FC236}">
                <a16:creationId xmlns:a16="http://schemas.microsoft.com/office/drawing/2014/main" id="{BCC10630-185A-67F4-7EB6-B1757B1D068F}"/>
              </a:ext>
            </a:extLst>
          </p:cNvPr>
          <p:cNvSpPr>
            <a:spLocks noGrp="1"/>
          </p:cNvSpPr>
          <p:nvPr>
            <p:ph type="ftr" sz="quarter" idx="11"/>
          </p:nvPr>
        </p:nvSpPr>
        <p:spPr/>
        <p:txBody>
          <a:bodyPr/>
          <a:lstStyle/>
          <a:p>
            <a:r>
              <a:rPr lang="en-IN"/>
              <a:t>BATCH NO:                   PRESENTED DATE:</a:t>
            </a:r>
          </a:p>
        </p:txBody>
      </p:sp>
      <p:sp>
        <p:nvSpPr>
          <p:cNvPr id="6" name="Slide Number Placeholder 5">
            <a:extLst>
              <a:ext uri="{FF2B5EF4-FFF2-40B4-BE49-F238E27FC236}">
                <a16:creationId xmlns:a16="http://schemas.microsoft.com/office/drawing/2014/main" id="{D8443CB8-6ADF-2094-6B2D-F75BD0410F92}"/>
              </a:ext>
            </a:extLst>
          </p:cNvPr>
          <p:cNvSpPr>
            <a:spLocks noGrp="1"/>
          </p:cNvSpPr>
          <p:nvPr>
            <p:ph type="sldNum" sz="quarter" idx="12"/>
          </p:nvPr>
        </p:nvSpPr>
        <p:spPr/>
        <p:txBody>
          <a:bodyPr/>
          <a:lstStyle/>
          <a:p>
            <a:fld id="{669AD40C-E5A7-4132-A31D-54A4D1BB6E89}" type="slidenum">
              <a:rPr lang="en-IN" smtClean="0"/>
              <a:t>17</a:t>
            </a:fld>
            <a:endParaRPr lang="en-IN"/>
          </a:p>
        </p:txBody>
      </p:sp>
      <p:pic>
        <p:nvPicPr>
          <p:cNvPr id="8" name="Picture 7">
            <a:extLst>
              <a:ext uri="{FF2B5EF4-FFF2-40B4-BE49-F238E27FC236}">
                <a16:creationId xmlns:a16="http://schemas.microsoft.com/office/drawing/2014/main" id="{7B636CE3-2F14-CC7D-A5B6-61DF8A8E994A}"/>
              </a:ext>
            </a:extLst>
          </p:cNvPr>
          <p:cNvPicPr>
            <a:picLocks noChangeAspect="1"/>
          </p:cNvPicPr>
          <p:nvPr/>
        </p:nvPicPr>
        <p:blipFill>
          <a:blip r:embed="rId3"/>
          <a:stretch>
            <a:fillRect/>
          </a:stretch>
        </p:blipFill>
        <p:spPr>
          <a:xfrm>
            <a:off x="0" y="0"/>
            <a:ext cx="9144000" cy="6858000"/>
          </a:xfrm>
          <a:prstGeom prst="rect">
            <a:avLst/>
          </a:prstGeom>
        </p:spPr>
      </p:pic>
    </p:spTree>
    <p:extLst>
      <p:ext uri="{BB962C8B-B14F-4D97-AF65-F5344CB8AC3E}">
        <p14:creationId xmlns:p14="http://schemas.microsoft.com/office/powerpoint/2010/main" val="369450656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1633</Words>
  <Application>Microsoft Office PowerPoint</Application>
  <PresentationFormat>On-screen Show (4:3)</PresentationFormat>
  <Paragraphs>160</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Times New Roman</vt:lpstr>
      <vt:lpstr>Tw Cen MT</vt:lpstr>
      <vt:lpstr>Wingdings</vt:lpstr>
      <vt:lpstr>Droplet</vt:lpstr>
      <vt:lpstr>PowerPoint Presentation</vt:lpstr>
      <vt:lpstr>PowerPoint Presentation</vt:lpstr>
      <vt:lpstr>ABSTRACT</vt:lpstr>
      <vt:lpstr>INTRODUCTION</vt:lpstr>
      <vt:lpstr>LITERATURE REVIEW</vt:lpstr>
      <vt:lpstr>OBJECTIVE</vt:lpstr>
      <vt:lpstr>block diagram</vt:lpstr>
      <vt:lpstr>Block diagram</vt:lpstr>
      <vt:lpstr>hardware</vt:lpstr>
      <vt:lpstr>software</vt:lpstr>
      <vt:lpstr> METHODOLOGY</vt:lpstr>
      <vt:lpstr>PowerPoint Presentation</vt:lpstr>
      <vt:lpstr>CONCLUSION </vt:lpstr>
      <vt:lpstr>Furture work</vt:lpstr>
      <vt:lpstr>REFERENCES</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Ashok Vijay</dc:creator>
  <cp:lastModifiedBy>Yakkanti Venkata Sri Charan Reddy</cp:lastModifiedBy>
  <cp:revision>8</cp:revision>
  <dcterms:created xsi:type="dcterms:W3CDTF">2020-03-04T16:47:09Z</dcterms:created>
  <dcterms:modified xsi:type="dcterms:W3CDTF">2023-03-10T09:21:29Z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469e67635f1843c1b634520fb5d88e58</vt:lpwstr>
  </property>
</Properties>
</file>