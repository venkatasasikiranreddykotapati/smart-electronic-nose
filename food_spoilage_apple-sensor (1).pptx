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58" r:id="rId5"/>
    <p:sldId id="260" r:id="rId6"/>
    <p:sldId id="261" r:id="rId7"/>
    <p:sldId id="268" r:id="rId8"/>
    <p:sldId id="267" r:id="rId9"/>
    <p:sldId id="262" r:id="rId10"/>
    <p:sldId id="259" r:id="rId11"/>
    <p:sldId id="271" r:id="rId12"/>
    <p:sldId id="263" r:id="rId13"/>
    <p:sldId id="273" r:id="rId14"/>
    <p:sldId id="269" r:id="rId15"/>
    <p:sldId id="264" r:id="rId16"/>
    <p:sldId id="272"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54" d="100"/>
          <a:sy n="54" d="100"/>
        </p:scale>
        <p:origin x="112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94FADDC-1D4F-4291-BC6E-5A209DFCA5E9}" type="datetimeFigureOut">
              <a:rPr lang="en-IN" smtClean="0"/>
              <a:t>10-03-2023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E28683-9E3D-4BDB-9BDD-3A94A8E4F2E7}" type="slidenum">
              <a:rPr lang="en-IN" smtClean="0"/>
              <a:t>‹#›</a:t>
            </a:fld>
            <a:endParaRPr lang="en-IN"/>
          </a:p>
        </p:txBody>
      </p:sp>
    </p:spTree>
    <p:extLst>
      <p:ext uri="{BB962C8B-B14F-4D97-AF65-F5344CB8AC3E}">
        <p14:creationId xmlns:p14="http://schemas.microsoft.com/office/powerpoint/2010/main" val="1853200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94FADDC-1D4F-4291-BC6E-5A209DFCA5E9}" type="datetimeFigureOut">
              <a:rPr lang="en-IN" smtClean="0"/>
              <a:t>10-03-2023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E28683-9E3D-4BDB-9BDD-3A94A8E4F2E7}" type="slidenum">
              <a:rPr lang="en-IN" smtClean="0"/>
              <a:t>‹#›</a:t>
            </a:fld>
            <a:endParaRPr lang="en-IN"/>
          </a:p>
        </p:txBody>
      </p:sp>
    </p:spTree>
    <p:extLst>
      <p:ext uri="{BB962C8B-B14F-4D97-AF65-F5344CB8AC3E}">
        <p14:creationId xmlns:p14="http://schemas.microsoft.com/office/powerpoint/2010/main" val="3479205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4FADDC-1D4F-4291-BC6E-5A209DFCA5E9}" type="datetimeFigureOut">
              <a:rPr lang="en-IN" smtClean="0"/>
              <a:t>10-03-2023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E28683-9E3D-4BDB-9BDD-3A94A8E4F2E7}" type="slidenum">
              <a:rPr lang="en-IN" smtClean="0"/>
              <a:t>‹#›</a:t>
            </a:fld>
            <a:endParaRPr lang="en-IN"/>
          </a:p>
        </p:txBody>
      </p:sp>
    </p:spTree>
    <p:extLst>
      <p:ext uri="{BB962C8B-B14F-4D97-AF65-F5344CB8AC3E}">
        <p14:creationId xmlns:p14="http://schemas.microsoft.com/office/powerpoint/2010/main" val="2609478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94FADDC-1D4F-4291-BC6E-5A209DFCA5E9}" type="datetimeFigureOut">
              <a:rPr lang="en-IN" smtClean="0"/>
              <a:t>10-03-2023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E28683-9E3D-4BDB-9BDD-3A94A8E4F2E7}" type="slidenum">
              <a:rPr lang="en-IN" smtClean="0"/>
              <a:t>‹#›</a:t>
            </a:fld>
            <a:endParaRPr lang="en-IN"/>
          </a:p>
        </p:txBody>
      </p:sp>
    </p:spTree>
    <p:extLst>
      <p:ext uri="{BB962C8B-B14F-4D97-AF65-F5344CB8AC3E}">
        <p14:creationId xmlns:p14="http://schemas.microsoft.com/office/powerpoint/2010/main" val="2311648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94FADDC-1D4F-4291-BC6E-5A209DFCA5E9}" type="datetimeFigureOut">
              <a:rPr lang="en-IN" smtClean="0"/>
              <a:t>10-03-2023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DE28683-9E3D-4BDB-9BDD-3A94A8E4F2E7}" type="slidenum">
              <a:rPr lang="en-IN" smtClean="0"/>
              <a:t>‹#›</a:t>
            </a:fld>
            <a:endParaRPr lang="en-IN"/>
          </a:p>
        </p:txBody>
      </p:sp>
    </p:spTree>
    <p:extLst>
      <p:ext uri="{BB962C8B-B14F-4D97-AF65-F5344CB8AC3E}">
        <p14:creationId xmlns:p14="http://schemas.microsoft.com/office/powerpoint/2010/main" val="2091861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94FADDC-1D4F-4291-BC6E-5A209DFCA5E9}" type="datetimeFigureOut">
              <a:rPr lang="en-IN" smtClean="0"/>
              <a:t>10-03-2023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DE28683-9E3D-4BDB-9BDD-3A94A8E4F2E7}" type="slidenum">
              <a:rPr lang="en-IN" smtClean="0"/>
              <a:t>‹#›</a:t>
            </a:fld>
            <a:endParaRPr lang="en-IN"/>
          </a:p>
        </p:txBody>
      </p:sp>
    </p:spTree>
    <p:extLst>
      <p:ext uri="{BB962C8B-B14F-4D97-AF65-F5344CB8AC3E}">
        <p14:creationId xmlns:p14="http://schemas.microsoft.com/office/powerpoint/2010/main" val="4230593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4FADDC-1D4F-4291-BC6E-5A209DFCA5E9}" type="datetimeFigureOut">
              <a:rPr lang="en-IN" smtClean="0"/>
              <a:t>10-03-2023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DE28683-9E3D-4BDB-9BDD-3A94A8E4F2E7}" type="slidenum">
              <a:rPr lang="en-IN" smtClean="0"/>
              <a:t>‹#›</a:t>
            </a:fld>
            <a:endParaRPr lang="en-IN"/>
          </a:p>
        </p:txBody>
      </p:sp>
    </p:spTree>
    <p:extLst>
      <p:ext uri="{BB962C8B-B14F-4D97-AF65-F5344CB8AC3E}">
        <p14:creationId xmlns:p14="http://schemas.microsoft.com/office/powerpoint/2010/main" val="3497001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94FADDC-1D4F-4291-BC6E-5A209DFCA5E9}" type="datetimeFigureOut">
              <a:rPr lang="en-IN" smtClean="0"/>
              <a:t>10-03-2023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E28683-9E3D-4BDB-9BDD-3A94A8E4F2E7}" type="slidenum">
              <a:rPr lang="en-IN" smtClean="0"/>
              <a:t>‹#›</a:t>
            </a:fld>
            <a:endParaRPr lang="en-IN"/>
          </a:p>
        </p:txBody>
      </p:sp>
    </p:spTree>
    <p:extLst>
      <p:ext uri="{BB962C8B-B14F-4D97-AF65-F5344CB8AC3E}">
        <p14:creationId xmlns:p14="http://schemas.microsoft.com/office/powerpoint/2010/main" val="3448559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94FADDC-1D4F-4291-BC6E-5A209DFCA5E9}" type="datetimeFigureOut">
              <a:rPr lang="en-IN" smtClean="0"/>
              <a:t>10-03-2023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E28683-9E3D-4BDB-9BDD-3A94A8E4F2E7}" type="slidenum">
              <a:rPr lang="en-IN" smtClean="0"/>
              <a:t>‹#›</a:t>
            </a:fld>
            <a:endParaRPr lang="en-IN"/>
          </a:p>
        </p:txBody>
      </p:sp>
    </p:spTree>
    <p:extLst>
      <p:ext uri="{BB962C8B-B14F-4D97-AF65-F5344CB8AC3E}">
        <p14:creationId xmlns:p14="http://schemas.microsoft.com/office/powerpoint/2010/main" val="1124915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94FADDC-1D4F-4291-BC6E-5A209DFCA5E9}" type="datetimeFigureOut">
              <a:rPr lang="en-IN" smtClean="0"/>
              <a:t>10-03-2023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E28683-9E3D-4BDB-9BDD-3A94A8E4F2E7}" type="slidenum">
              <a:rPr lang="en-IN" smtClean="0"/>
              <a:t>‹#›</a:t>
            </a:fld>
            <a:endParaRPr lang="en-IN"/>
          </a:p>
        </p:txBody>
      </p:sp>
    </p:spTree>
    <p:extLst>
      <p:ext uri="{BB962C8B-B14F-4D97-AF65-F5344CB8AC3E}">
        <p14:creationId xmlns:p14="http://schemas.microsoft.com/office/powerpoint/2010/main" val="644883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94FADDC-1D4F-4291-BC6E-5A209DFCA5E9}" type="datetimeFigureOut">
              <a:rPr lang="en-IN" smtClean="0"/>
              <a:t>10-03-2023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E28683-9E3D-4BDB-9BDD-3A94A8E4F2E7}" type="slidenum">
              <a:rPr lang="en-IN" smtClean="0"/>
              <a:t>‹#›</a:t>
            </a:fld>
            <a:endParaRPr lang="en-IN"/>
          </a:p>
        </p:txBody>
      </p:sp>
    </p:spTree>
    <p:extLst>
      <p:ext uri="{BB962C8B-B14F-4D97-AF65-F5344CB8AC3E}">
        <p14:creationId xmlns:p14="http://schemas.microsoft.com/office/powerpoint/2010/main" val="271339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4FADDC-1D4F-4291-BC6E-5A209DFCA5E9}" type="datetimeFigureOut">
              <a:rPr lang="en-IN" smtClean="0"/>
              <a:t>10-03-2023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E28683-9E3D-4BDB-9BDD-3A94A8E4F2E7}" type="slidenum">
              <a:rPr lang="en-IN" smtClean="0"/>
              <a:t>‹#›</a:t>
            </a:fld>
            <a:endParaRPr lang="en-IN"/>
          </a:p>
        </p:txBody>
      </p:sp>
    </p:spTree>
    <p:extLst>
      <p:ext uri="{BB962C8B-B14F-4D97-AF65-F5344CB8AC3E}">
        <p14:creationId xmlns:p14="http://schemas.microsoft.com/office/powerpoint/2010/main" val="23323146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br>
              <a:rPr lang="en-IN" b="1" dirty="0"/>
            </a:br>
            <a:br>
              <a:rPr lang="en-IN" b="1" dirty="0"/>
            </a:br>
            <a:endParaRPr lang="en-IN" dirty="0"/>
          </a:p>
        </p:txBody>
      </p:sp>
      <p:sp>
        <p:nvSpPr>
          <p:cNvPr id="3" name="TextBox 2"/>
          <p:cNvSpPr txBox="1"/>
          <p:nvPr/>
        </p:nvSpPr>
        <p:spPr>
          <a:xfrm>
            <a:off x="1774209" y="1501254"/>
            <a:ext cx="8502555" cy="2215991"/>
          </a:xfrm>
          <a:prstGeom prst="rect">
            <a:avLst/>
          </a:prstGeom>
          <a:noFill/>
        </p:spPr>
        <p:txBody>
          <a:bodyPr wrap="square" rtlCol="0">
            <a:spAutoFit/>
          </a:bodyPr>
          <a:lstStyle/>
          <a:p>
            <a:pPr algn="ctr"/>
            <a:r>
              <a:rPr lang="en-US" sz="4000" b="1" dirty="0"/>
              <a:t>DESIGN AND DEVELOPEMENT OF AI DRIVEN E NOSE SYSTEM FOR QUALITY ANALYSIS IN APPLE</a:t>
            </a:r>
            <a:endParaRPr lang="en-US" sz="4000" dirty="0"/>
          </a:p>
          <a:p>
            <a:endParaRPr lang="en-US" dirty="0"/>
          </a:p>
        </p:txBody>
      </p:sp>
    </p:spTree>
    <p:extLst>
      <p:ext uri="{BB962C8B-B14F-4D97-AF65-F5344CB8AC3E}">
        <p14:creationId xmlns:p14="http://schemas.microsoft.com/office/powerpoint/2010/main" val="298207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ABSTRACT</a:t>
            </a:r>
            <a:br>
              <a:rPr lang="en-IN" dirty="0"/>
            </a:br>
            <a:endParaRPr lang="en-IN" dirty="0"/>
          </a:p>
        </p:txBody>
      </p:sp>
      <p:sp>
        <p:nvSpPr>
          <p:cNvPr id="3" name="Content Placeholder 2"/>
          <p:cNvSpPr>
            <a:spLocks noGrp="1"/>
          </p:cNvSpPr>
          <p:nvPr>
            <p:ph idx="1"/>
          </p:nvPr>
        </p:nvSpPr>
        <p:spPr>
          <a:xfrm>
            <a:off x="838200" y="1371600"/>
            <a:ext cx="10515600" cy="4805363"/>
          </a:xfrm>
        </p:spPr>
        <p:txBody>
          <a:bodyPr>
            <a:normAutofit fontScale="92500"/>
          </a:bodyPr>
          <a:lstStyle/>
          <a:p>
            <a:r>
              <a:rPr lang="en-IN" dirty="0"/>
              <a:t>Food spoilage is a significant problem in the food industry, causing significant economic losses and posing health risks to consumers. One common type of food spoilage is the decay of fresh fruits such as apples, which can be caused by a variety of factors, including microbial growth, physical damage, and exposure to oxygen. In this project, we propose the use of artificial intelligence (AI) to develop a system for the detection of fresh and rotten apples in the food industry. The system will use machine learning algorithms to analyse images of apples and classify them as fresh or rotten based on their visual appearance. The system will be developed using a dataset of images of apples, both fresh and rotten, that have been collected from different sources in the food industry. The model, which will learn to classify apples based on their visual features. After that depends on sensor based reading signals output decision will be taken. </a:t>
            </a:r>
            <a:endParaRPr lang="en-US" dirty="0"/>
          </a:p>
        </p:txBody>
      </p:sp>
    </p:spTree>
    <p:extLst>
      <p:ext uri="{BB962C8B-B14F-4D97-AF65-F5344CB8AC3E}">
        <p14:creationId xmlns:p14="http://schemas.microsoft.com/office/powerpoint/2010/main" val="313939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a:t>
            </a:r>
          </a:p>
        </p:txBody>
      </p:sp>
      <p:sp>
        <p:nvSpPr>
          <p:cNvPr id="3" name="Content Placeholder 2"/>
          <p:cNvSpPr>
            <a:spLocks noGrp="1"/>
          </p:cNvSpPr>
          <p:nvPr>
            <p:ph idx="1"/>
          </p:nvPr>
        </p:nvSpPr>
        <p:spPr/>
        <p:txBody>
          <a:bodyPr/>
          <a:lstStyle/>
          <a:p>
            <a:r>
              <a:rPr lang="en-US" dirty="0"/>
              <a:t>The proposed system should be able to accurately detect the quality of fruits and provide an automated solution for food quality control and inspection.</a:t>
            </a:r>
          </a:p>
        </p:txBody>
      </p:sp>
    </p:spTree>
    <p:extLst>
      <p:ext uri="{BB962C8B-B14F-4D97-AF65-F5344CB8AC3E}">
        <p14:creationId xmlns:p14="http://schemas.microsoft.com/office/powerpoint/2010/main" val="1765051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br>
              <a:rPr lang="en-IN" dirty="0"/>
            </a:br>
            <a:endParaRPr lang="en-IN" dirty="0"/>
          </a:p>
        </p:txBody>
      </p:sp>
      <p:sp>
        <p:nvSpPr>
          <p:cNvPr id="3" name="Content Placeholder 2"/>
          <p:cNvSpPr>
            <a:spLocks noGrp="1"/>
          </p:cNvSpPr>
          <p:nvPr>
            <p:ph idx="1"/>
          </p:nvPr>
        </p:nvSpPr>
        <p:spPr>
          <a:xfrm>
            <a:off x="838200" y="1690688"/>
            <a:ext cx="10515600" cy="4486275"/>
          </a:xfrm>
        </p:spPr>
        <p:txBody>
          <a:bodyPr>
            <a:normAutofit/>
          </a:bodyPr>
          <a:lstStyle/>
          <a:p>
            <a:r>
              <a:rPr lang="en-US" dirty="0"/>
              <a:t>To revolutionize the food industry by providing a more efficient and accurate method for detecting food spoilage. By identifying rotten apples early in the supply chain, food waste can be reduced, and the risk of foodborne illness can be minimized. Additionally, the system can provide valuable information to food producers and retailers about the quality of their products, allowing for better decision-making and increased customer satisfaction. Overall, this project demonstrates the potential of AI and machine learning in addressing critical challenges in the food industry, such as food spoilage detection, and has significant implications for improving food safety and reducing waste.</a:t>
            </a:r>
          </a:p>
        </p:txBody>
      </p:sp>
    </p:spTree>
    <p:extLst>
      <p:ext uri="{BB962C8B-B14F-4D97-AF65-F5344CB8AC3E}">
        <p14:creationId xmlns:p14="http://schemas.microsoft.com/office/powerpoint/2010/main" val="2161276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BLOCK DIAGRAM EXPLANATION</a:t>
            </a:r>
            <a:br>
              <a:rPr lang="en-IN" dirty="0"/>
            </a:br>
            <a:endParaRPr lang="en-IN" dirty="0"/>
          </a:p>
        </p:txBody>
      </p:sp>
      <p:sp>
        <p:nvSpPr>
          <p:cNvPr id="3" name="Content Placeholder 2"/>
          <p:cNvSpPr>
            <a:spLocks noGrp="1"/>
          </p:cNvSpPr>
          <p:nvPr>
            <p:ph idx="1"/>
          </p:nvPr>
        </p:nvSpPr>
        <p:spPr/>
        <p:txBody>
          <a:bodyPr>
            <a:normAutofit lnSpcReduction="10000"/>
          </a:bodyPr>
          <a:lstStyle/>
          <a:p>
            <a:r>
              <a:rPr lang="en-US" dirty="0"/>
              <a:t>The  temperature  sensor,  senses  temperature  of  the surrounding atmosphere and  keeps a  constant check on the temperature.  For  temperature  control  , if  the temperature inside the greenhouse exceeds beyond the limit set then a fan will be automatically switched ON as a coolant to  reduce  the  temperature. When  it  reaches  the  desired temperature the fan will be switched OFF automatically. We also  control  speed  of  fan  using  Pulse  Width  Modulation(PWM) technique according to temperature variations. But if the temperature decreases below the optimum temperature a heater will be switched ON to set the temperature within the desired range. Soil moisture is constantly  monitored by the soil sensor .When the soil is dry , the sprinkler turns on. </a:t>
            </a:r>
            <a:endParaRPr lang="en-IN" dirty="0"/>
          </a:p>
          <a:p>
            <a:endParaRPr lang="en-IN" dirty="0"/>
          </a:p>
        </p:txBody>
      </p:sp>
    </p:spTree>
    <p:extLst>
      <p:ext uri="{BB962C8B-B14F-4D97-AF65-F5344CB8AC3E}">
        <p14:creationId xmlns:p14="http://schemas.microsoft.com/office/powerpoint/2010/main" val="148243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EXISTING SYSTEM</a:t>
            </a:r>
            <a:br>
              <a:rPr lang="en-IN" dirty="0"/>
            </a:br>
            <a:endParaRPr lang="en-IN" dirty="0"/>
          </a:p>
        </p:txBody>
      </p:sp>
      <p:sp>
        <p:nvSpPr>
          <p:cNvPr id="3" name="Content Placeholder 2"/>
          <p:cNvSpPr>
            <a:spLocks noGrp="1"/>
          </p:cNvSpPr>
          <p:nvPr>
            <p:ph idx="1"/>
          </p:nvPr>
        </p:nvSpPr>
        <p:spPr/>
        <p:txBody>
          <a:bodyPr/>
          <a:lstStyle/>
          <a:p>
            <a:pPr marL="0" indent="0">
              <a:buNone/>
            </a:pPr>
            <a:r>
              <a:rPr lang="fr-FR" dirty="0"/>
              <a:t>•	Principal Component </a:t>
            </a:r>
            <a:r>
              <a:rPr lang="fr-FR" dirty="0" err="1"/>
              <a:t>Analysis</a:t>
            </a:r>
            <a:endParaRPr lang="fr-FR" dirty="0"/>
          </a:p>
          <a:p>
            <a:pPr marL="0" indent="0">
              <a:buNone/>
            </a:pPr>
            <a:r>
              <a:rPr lang="fr-FR" dirty="0"/>
              <a:t>•	Texture </a:t>
            </a:r>
            <a:r>
              <a:rPr lang="fr-FR" dirty="0" err="1"/>
              <a:t>based</a:t>
            </a:r>
            <a:r>
              <a:rPr lang="fr-FR" dirty="0"/>
              <a:t> segmentation</a:t>
            </a:r>
          </a:p>
          <a:p>
            <a:pPr marL="0" indent="0">
              <a:buNone/>
            </a:pPr>
            <a:r>
              <a:rPr lang="fr-FR" dirty="0"/>
              <a:t>•	KNN classifier</a:t>
            </a:r>
          </a:p>
          <a:p>
            <a:endParaRPr lang="en-IN" dirty="0"/>
          </a:p>
        </p:txBody>
      </p:sp>
    </p:spTree>
    <p:extLst>
      <p:ext uri="{BB962C8B-B14F-4D97-AF65-F5344CB8AC3E}">
        <p14:creationId xmlns:p14="http://schemas.microsoft.com/office/powerpoint/2010/main" val="2874701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Drawbacks</a:t>
            </a:r>
          </a:p>
        </p:txBody>
      </p:sp>
      <p:sp>
        <p:nvSpPr>
          <p:cNvPr id="3" name="Content Placeholder 2"/>
          <p:cNvSpPr>
            <a:spLocks noGrp="1"/>
          </p:cNvSpPr>
          <p:nvPr>
            <p:ph idx="1"/>
          </p:nvPr>
        </p:nvSpPr>
        <p:spPr/>
        <p:txBody>
          <a:bodyPr/>
          <a:lstStyle/>
          <a:p>
            <a:pPr lvl="0"/>
            <a:r>
              <a:rPr lang="en-US" dirty="0"/>
              <a:t>High Computational load </a:t>
            </a:r>
          </a:p>
          <a:p>
            <a:pPr lvl="0"/>
            <a:r>
              <a:rPr lang="en-US" dirty="0"/>
              <a:t>Poor discriminatory power</a:t>
            </a:r>
          </a:p>
          <a:p>
            <a:pPr lvl="0"/>
            <a:r>
              <a:rPr lang="en-US" dirty="0"/>
              <a:t>Less accuracy in classification</a:t>
            </a:r>
          </a:p>
        </p:txBody>
      </p:sp>
    </p:spTree>
    <p:extLst>
      <p:ext uri="{BB962C8B-B14F-4D97-AF65-F5344CB8AC3E}">
        <p14:creationId xmlns:p14="http://schemas.microsoft.com/office/powerpoint/2010/main" val="4062439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a:t>
            </a:r>
            <a:br>
              <a:rPr lang="en-US" dirty="0"/>
            </a:br>
            <a:endParaRPr lang="en-US" dirty="0"/>
          </a:p>
        </p:txBody>
      </p:sp>
      <p:sp>
        <p:nvSpPr>
          <p:cNvPr id="3" name="Content Placeholder 2"/>
          <p:cNvSpPr>
            <a:spLocks noGrp="1"/>
          </p:cNvSpPr>
          <p:nvPr>
            <p:ph idx="1"/>
          </p:nvPr>
        </p:nvSpPr>
        <p:spPr/>
        <p:txBody>
          <a:bodyPr/>
          <a:lstStyle/>
          <a:p>
            <a:pPr lvl="0"/>
            <a:r>
              <a:rPr lang="en-US" dirty="0"/>
              <a:t>Computer vision</a:t>
            </a:r>
          </a:p>
          <a:p>
            <a:pPr lvl="0"/>
            <a:r>
              <a:rPr lang="en-US" dirty="0"/>
              <a:t>Agricultural field</a:t>
            </a:r>
          </a:p>
          <a:p>
            <a:pPr lvl="0"/>
            <a:r>
              <a:rPr lang="en-US" dirty="0"/>
              <a:t>Food quality in Schools and colleges </a:t>
            </a:r>
          </a:p>
          <a:p>
            <a:endParaRPr lang="en-US" dirty="0"/>
          </a:p>
        </p:txBody>
      </p:sp>
    </p:spTree>
    <p:extLst>
      <p:ext uri="{BB962C8B-B14F-4D97-AF65-F5344CB8AC3E}">
        <p14:creationId xmlns:p14="http://schemas.microsoft.com/office/powerpoint/2010/main" val="2631513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PROPOSED SYSTEM</a:t>
            </a:r>
            <a:br>
              <a:rPr lang="en-IN" dirty="0"/>
            </a:br>
            <a:endParaRPr lang="en-IN" dirty="0"/>
          </a:p>
        </p:txBody>
      </p:sp>
      <p:sp>
        <p:nvSpPr>
          <p:cNvPr id="3" name="Content Placeholder 2"/>
          <p:cNvSpPr>
            <a:spLocks noGrp="1"/>
          </p:cNvSpPr>
          <p:nvPr>
            <p:ph idx="1"/>
          </p:nvPr>
        </p:nvSpPr>
        <p:spPr>
          <a:xfrm>
            <a:off x="838200" y="1323474"/>
            <a:ext cx="10515600" cy="4853489"/>
          </a:xfrm>
        </p:spPr>
        <p:txBody>
          <a:bodyPr>
            <a:normAutofit lnSpcReduction="10000"/>
          </a:bodyPr>
          <a:lstStyle/>
          <a:p>
            <a:r>
              <a:rPr lang="en-US" dirty="0"/>
              <a:t>To detect the freshness of fruits based on their temperature using an LM35 sensor and a deep learning algorithm. The aim is to classify fruits as fresh or ripe based on their temperature readings, which can help to identify the quality of fruits and reduce food waste. Additionally, we propose to classify fruits as organic or non-organic based on the readings obtained from an MQ sensor. The proposed method involves collecting a dataset of temperature and MQ sensor readings from fresh and ripe fruits with different wax coatings, preprocessing the data, training a deep learning algorithm such as a CNN or RNN on the data, and testing the accuracy of the model on a testing set. The results of the proposed method can potentially contribute to the development of automated systems for food quality control and inspection.</a:t>
            </a:r>
          </a:p>
          <a:p>
            <a:endParaRPr lang="en-IN" dirty="0"/>
          </a:p>
        </p:txBody>
      </p:sp>
    </p:spTree>
    <p:extLst>
      <p:ext uri="{BB962C8B-B14F-4D97-AF65-F5344CB8AC3E}">
        <p14:creationId xmlns:p14="http://schemas.microsoft.com/office/powerpoint/2010/main" val="3868153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BLOCK DIAGRAM</a:t>
            </a:r>
            <a:br>
              <a:rPr lang="en-IN" dirty="0"/>
            </a:br>
            <a:endParaRPr lang="en-IN" dirty="0"/>
          </a:p>
        </p:txBody>
      </p:sp>
      <p:sp>
        <p:nvSpPr>
          <p:cNvPr id="4" name="Content Placeholder 3">
            <a:extLst>
              <a:ext uri="{FF2B5EF4-FFF2-40B4-BE49-F238E27FC236}">
                <a16:creationId xmlns:a16="http://schemas.microsoft.com/office/drawing/2014/main" id="{3C9A802F-5DBA-FF1F-DCA4-E3768745F57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15038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BLOCK DIAGRAM</a:t>
            </a:r>
            <a:br>
              <a:rPr lang="en-IN" dirty="0"/>
            </a:br>
            <a:endParaRPr lang="en-IN" dirty="0"/>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347788"/>
            <a:ext cx="10122229" cy="4801552"/>
          </a:xfrm>
          <a:prstGeom prst="rect">
            <a:avLst/>
          </a:prstGeom>
          <a:noFill/>
          <a:ln>
            <a:noFill/>
          </a:ln>
        </p:spPr>
      </p:pic>
    </p:spTree>
    <p:extLst>
      <p:ext uri="{BB962C8B-B14F-4D97-AF65-F5344CB8AC3E}">
        <p14:creationId xmlns:p14="http://schemas.microsoft.com/office/powerpoint/2010/main" val="3470717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MODULES</a:t>
            </a:r>
            <a:br>
              <a:rPr lang="en-IN" dirty="0"/>
            </a:br>
            <a:endParaRPr lang="en-IN" dirty="0"/>
          </a:p>
        </p:txBody>
      </p:sp>
      <p:sp>
        <p:nvSpPr>
          <p:cNvPr id="3" name="Content Placeholder 2"/>
          <p:cNvSpPr>
            <a:spLocks noGrp="1"/>
          </p:cNvSpPr>
          <p:nvPr>
            <p:ph idx="1"/>
          </p:nvPr>
        </p:nvSpPr>
        <p:spPr/>
        <p:txBody>
          <a:bodyPr>
            <a:normAutofit fontScale="85000" lnSpcReduction="10000"/>
          </a:bodyPr>
          <a:lstStyle/>
          <a:p>
            <a:pPr marL="342900" marR="0" lvl="0" indent="-342900" algn="just">
              <a:lnSpc>
                <a:spcPct val="150000"/>
              </a:lnSpc>
              <a:spcBef>
                <a:spcPts val="0"/>
              </a:spcBef>
              <a:spcAft>
                <a:spcPts val="0"/>
              </a:spcAft>
              <a:buFont typeface="+mj-lt"/>
              <a:buAutoNum type="arabicPeriod"/>
              <a:tabLst>
                <a:tab pos="457200" algn="l"/>
              </a:tabLst>
            </a:pPr>
            <a:r>
              <a:rPr lang="en-US" dirty="0">
                <a:latin typeface="Times New Roman" panose="02020603050405020304" pitchFamily="18" charset="0"/>
                <a:ea typeface="Times New Roman" panose="02020603050405020304" pitchFamily="18" charset="0"/>
              </a:rPr>
              <a:t>Collect a dataset of readings from organic and non-organic fruits using an MQ sensor. You can use a pre-existing dataset or collect your own data.</a:t>
            </a:r>
            <a:endParaRPr lang="en-US" sz="1800" dirty="0">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tabLst>
                <a:tab pos="457200" algn="l"/>
              </a:tabLst>
            </a:pPr>
            <a:r>
              <a:rPr lang="en-US" dirty="0">
                <a:latin typeface="Times New Roman" panose="02020603050405020304" pitchFamily="18" charset="0"/>
                <a:ea typeface="Times New Roman" panose="02020603050405020304" pitchFamily="18" charset="0"/>
              </a:rPr>
              <a:t>Preprocess the data by normalizing the MQ sensor readings and splitting it into training and testing sets.</a:t>
            </a:r>
            <a:endParaRPr lang="en-US" sz="1800" dirty="0">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tabLst>
                <a:tab pos="457200" algn="l"/>
              </a:tabLst>
            </a:pPr>
            <a:r>
              <a:rPr lang="en-US" dirty="0">
                <a:latin typeface="Times New Roman" panose="02020603050405020304" pitchFamily="18" charset="0"/>
                <a:ea typeface="Times New Roman" panose="02020603050405020304" pitchFamily="18" charset="0"/>
              </a:rPr>
              <a:t>Train a deep learning algorithm such as a CNN or RNN on the training set to classify the fruits as organic or non-organic based on the MQ sensor readings.</a:t>
            </a:r>
            <a:endParaRPr lang="en-US" sz="1800" dirty="0">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tabLst>
                <a:tab pos="457200" algn="l"/>
              </a:tabLst>
            </a:pPr>
            <a:r>
              <a:rPr lang="en-US" dirty="0">
                <a:latin typeface="Times New Roman" panose="02020603050405020304" pitchFamily="18" charset="0"/>
                <a:ea typeface="Times New Roman" panose="02020603050405020304" pitchFamily="18" charset="0"/>
              </a:rPr>
              <a:t>Test the accuracy of the trained model on the testing set to evaluate its performance.</a:t>
            </a:r>
            <a:endParaRPr lang="en-US" sz="1800" dirty="0">
              <a:latin typeface="Calibri" panose="020F0502020204030204" pitchFamily="34" charset="0"/>
              <a:ea typeface="Calibri" panose="020F0502020204030204" pitchFamily="34" charset="0"/>
            </a:endParaRPr>
          </a:p>
          <a:p>
            <a:pPr lvl="0"/>
            <a:endParaRPr lang="en-US" dirty="0"/>
          </a:p>
        </p:txBody>
      </p:sp>
    </p:spTree>
    <p:extLst>
      <p:ext uri="{BB962C8B-B14F-4D97-AF65-F5344CB8AC3E}">
        <p14:creationId xmlns:p14="http://schemas.microsoft.com/office/powerpoint/2010/main" val="1621950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HARDWARE</a:t>
            </a:r>
            <a:br>
              <a:rPr lang="en-IN" dirty="0"/>
            </a:br>
            <a:endParaRPr lang="en-IN" dirty="0"/>
          </a:p>
        </p:txBody>
      </p:sp>
      <p:sp>
        <p:nvSpPr>
          <p:cNvPr id="3" name="Content Placeholder 2"/>
          <p:cNvSpPr>
            <a:spLocks noGrp="1"/>
          </p:cNvSpPr>
          <p:nvPr>
            <p:ph idx="1"/>
          </p:nvPr>
        </p:nvSpPr>
        <p:spPr/>
        <p:txBody>
          <a:bodyPr/>
          <a:lstStyle/>
          <a:p>
            <a:pPr lvl="0"/>
            <a:r>
              <a:rPr lang="en-US" dirty="0"/>
              <a:t>Raspberry pi zero</a:t>
            </a:r>
          </a:p>
          <a:p>
            <a:r>
              <a:rPr lang="en-US" dirty="0"/>
              <a:t>Arduino Uno</a:t>
            </a:r>
          </a:p>
          <a:p>
            <a:pPr lvl="0"/>
            <a:r>
              <a:rPr lang="en-US" dirty="0"/>
              <a:t>jumper wires</a:t>
            </a:r>
          </a:p>
          <a:p>
            <a:pPr lvl="0"/>
            <a:r>
              <a:rPr lang="en-US" dirty="0"/>
              <a:t>Power supply usb cable</a:t>
            </a:r>
          </a:p>
          <a:p>
            <a:pPr lvl="0"/>
            <a:r>
              <a:rPr lang="en-US" dirty="0"/>
              <a:t>LCD Display</a:t>
            </a:r>
          </a:p>
          <a:p>
            <a:pPr lvl="0"/>
            <a:r>
              <a:rPr lang="en-US" dirty="0"/>
              <a:t>MQ sensor</a:t>
            </a:r>
          </a:p>
          <a:p>
            <a:pPr lvl="0"/>
            <a:r>
              <a:rPr lang="en-US" dirty="0"/>
              <a:t>Temperature sensor</a:t>
            </a:r>
          </a:p>
        </p:txBody>
      </p:sp>
    </p:spTree>
    <p:extLst>
      <p:ext uri="{BB962C8B-B14F-4D97-AF65-F5344CB8AC3E}">
        <p14:creationId xmlns:p14="http://schemas.microsoft.com/office/powerpoint/2010/main" val="1046909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a:t>
            </a:r>
          </a:p>
        </p:txBody>
      </p:sp>
      <p:sp>
        <p:nvSpPr>
          <p:cNvPr id="3" name="Content Placeholder 2"/>
          <p:cNvSpPr>
            <a:spLocks noGrp="1"/>
          </p:cNvSpPr>
          <p:nvPr>
            <p:ph idx="1"/>
          </p:nvPr>
        </p:nvSpPr>
        <p:spPr/>
        <p:txBody>
          <a:bodyPr/>
          <a:lstStyle/>
          <a:p>
            <a:pPr lvl="0"/>
            <a:r>
              <a:rPr lang="en-US" dirty="0"/>
              <a:t>Raspbian OS</a:t>
            </a:r>
          </a:p>
          <a:p>
            <a:pPr lvl="0"/>
            <a:r>
              <a:rPr lang="en-US" dirty="0"/>
              <a:t>Python IDLE</a:t>
            </a:r>
          </a:p>
          <a:p>
            <a:pPr lvl="0"/>
            <a:r>
              <a:rPr lang="en-US" dirty="0"/>
              <a:t>Arduino IDE</a:t>
            </a:r>
          </a:p>
          <a:p>
            <a:pPr lvl="0"/>
            <a:r>
              <a:rPr lang="en-US" dirty="0"/>
              <a:t>Embedded C</a:t>
            </a:r>
          </a:p>
          <a:p>
            <a:pPr lvl="0"/>
            <a:r>
              <a:rPr lang="en-US" dirty="0"/>
              <a:t>VNC Viewer</a:t>
            </a:r>
          </a:p>
          <a:p>
            <a:pPr lvl="0"/>
            <a:r>
              <a:rPr lang="en-US" dirty="0"/>
              <a:t>Embedded C</a:t>
            </a:r>
          </a:p>
          <a:p>
            <a:pPr lvl="0"/>
            <a:r>
              <a:rPr lang="en-US" dirty="0"/>
              <a:t>Python </a:t>
            </a:r>
          </a:p>
          <a:p>
            <a:pPr lvl="0"/>
            <a:r>
              <a:rPr lang="en-US" dirty="0"/>
              <a:t>IP cam App</a:t>
            </a:r>
          </a:p>
        </p:txBody>
      </p:sp>
    </p:spTree>
    <p:extLst>
      <p:ext uri="{BB962C8B-B14F-4D97-AF65-F5344CB8AC3E}">
        <p14:creationId xmlns:p14="http://schemas.microsoft.com/office/powerpoint/2010/main" val="377555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br>
              <a:rPr lang="en-IN" dirty="0"/>
            </a:br>
            <a:endParaRPr lang="en-IN" dirty="0"/>
          </a:p>
        </p:txBody>
      </p:sp>
      <p:sp>
        <p:nvSpPr>
          <p:cNvPr id="3" name="Content Placeholder 2"/>
          <p:cNvSpPr>
            <a:spLocks noGrp="1"/>
          </p:cNvSpPr>
          <p:nvPr>
            <p:ph idx="1"/>
          </p:nvPr>
        </p:nvSpPr>
        <p:spPr/>
        <p:txBody>
          <a:bodyPr/>
          <a:lstStyle/>
          <a:p>
            <a:r>
              <a:rPr lang="en-US" dirty="0"/>
              <a:t>In conclusion, this project aimed to develop a system for detecting the freshness and ripeness of fruits based on their temperature using an LM35 sensor and a deep learning algorithm. Additionally, the proposed system aimed to classify fruits as organic or non-organic based on the readings obtained from an MQ sensor. The results of this project showed that the proposed method can accurately detect the quality of fruits, providing an automated solution for food quality control and inspection. The proposed system can potentially contribute to reducing food waste and improving the quality of food products in the food industry. </a:t>
            </a:r>
          </a:p>
        </p:txBody>
      </p:sp>
    </p:spTree>
    <p:extLst>
      <p:ext uri="{BB962C8B-B14F-4D97-AF65-F5344CB8AC3E}">
        <p14:creationId xmlns:p14="http://schemas.microsoft.com/office/powerpoint/2010/main" val="1823627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FUTURE WORK</a:t>
            </a:r>
            <a:endParaRPr lang="en-IN" dirty="0"/>
          </a:p>
        </p:txBody>
      </p:sp>
      <p:sp>
        <p:nvSpPr>
          <p:cNvPr id="3" name="Content Placeholder 2"/>
          <p:cNvSpPr>
            <a:spLocks noGrp="1"/>
          </p:cNvSpPr>
          <p:nvPr>
            <p:ph idx="1"/>
          </p:nvPr>
        </p:nvSpPr>
        <p:spPr/>
        <p:txBody>
          <a:bodyPr/>
          <a:lstStyle/>
          <a:p>
            <a:r>
              <a:rPr lang="en-US" dirty="0"/>
              <a:t>Further research can be conducted to explore the scalability of the proposed system and to evaluate its performance in a real-world environment. this project demonstrates the potential of image classification technology in improving food quality in public schools. The proposed system has significant implications for food safety, waste reduction, and public health, and has the potential to be implemented in other food service industries.</a:t>
            </a:r>
          </a:p>
        </p:txBody>
      </p:sp>
    </p:spTree>
    <p:extLst>
      <p:ext uri="{BB962C8B-B14F-4D97-AF65-F5344CB8AC3E}">
        <p14:creationId xmlns:p14="http://schemas.microsoft.com/office/powerpoint/2010/main" val="1467180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fontScale="62500" lnSpcReduction="20000"/>
          </a:bodyPr>
          <a:lstStyle/>
          <a:p>
            <a:r>
              <a:rPr lang="en-US" dirty="0"/>
              <a:t>[1] C. A. Medina, M. R. Perez, and L. C. Trujillo, ‘‘IoT paradigm into the smart city vision: A survey,’’ in Proc. IEEE Int. Conf. Internet Things (</a:t>
            </a:r>
            <a:r>
              <a:rPr lang="en-US" dirty="0" err="1"/>
              <a:t>iThings</a:t>
            </a:r>
            <a:r>
              <a:rPr lang="en-US" dirty="0"/>
              <a:t>) IEEE Green </a:t>
            </a:r>
            <a:r>
              <a:rPr lang="en-US" dirty="0" err="1"/>
              <a:t>Comput</a:t>
            </a:r>
            <a:r>
              <a:rPr lang="en-US" dirty="0"/>
              <a:t>. </a:t>
            </a:r>
            <a:r>
              <a:rPr lang="en-US" dirty="0" err="1"/>
              <a:t>Commun</a:t>
            </a:r>
            <a:r>
              <a:rPr lang="en-US" dirty="0"/>
              <a:t>. (</a:t>
            </a:r>
            <a:r>
              <a:rPr lang="en-US" dirty="0" err="1"/>
              <a:t>GreenCom</a:t>
            </a:r>
            <a:r>
              <a:rPr lang="en-US" dirty="0"/>
              <a:t>) IEEE Cyber, Phys. Social </a:t>
            </a:r>
            <a:r>
              <a:rPr lang="en-US" dirty="0" err="1"/>
              <a:t>Comput</a:t>
            </a:r>
            <a:r>
              <a:rPr lang="en-US" dirty="0"/>
              <a:t>. (</a:t>
            </a:r>
            <a:r>
              <a:rPr lang="en-US" dirty="0" err="1"/>
              <a:t>CPSCom</a:t>
            </a:r>
            <a:r>
              <a:rPr lang="en-US" dirty="0"/>
              <a:t>) IEEE Smart Data (</a:t>
            </a:r>
            <a:r>
              <a:rPr lang="en-US" dirty="0" err="1"/>
              <a:t>SmartData</a:t>
            </a:r>
            <a:r>
              <a:rPr lang="en-US" dirty="0"/>
              <a:t>), Exeter, U.K., Jun. 2017, pp. 695–704.</a:t>
            </a:r>
          </a:p>
          <a:p>
            <a:r>
              <a:rPr lang="en-US" dirty="0"/>
              <a:t> [2] M. Umar and W. </a:t>
            </a:r>
            <a:r>
              <a:rPr lang="en-US" dirty="0" err="1"/>
              <a:t>Uhl</a:t>
            </a:r>
            <a:r>
              <a:rPr lang="en-US" dirty="0"/>
              <a:t>, ‘‘Integrative review of decentralized and local water management concepts as part of smart cities (</a:t>
            </a:r>
            <a:r>
              <a:rPr lang="en-US" dirty="0" err="1"/>
              <a:t>LoWaSmart</a:t>
            </a:r>
            <a:r>
              <a:rPr lang="en-US" dirty="0"/>
              <a:t>),’’ Norwegian Inst. Water Res., Oslo, Norway, Tech. Rep. 7058-2016, 2016. </a:t>
            </a:r>
          </a:p>
          <a:p>
            <a:r>
              <a:rPr lang="en-US" dirty="0"/>
              <a:t>[3] S. J. </a:t>
            </a:r>
            <a:r>
              <a:rPr lang="en-US" dirty="0" err="1"/>
              <a:t>Livesley</a:t>
            </a:r>
            <a:r>
              <a:rPr lang="en-US" dirty="0"/>
              <a:t>, V. </a:t>
            </a:r>
            <a:r>
              <a:rPr lang="en-US" dirty="0" err="1"/>
              <a:t>Marchionni</a:t>
            </a:r>
            <a:r>
              <a:rPr lang="en-US" dirty="0"/>
              <a:t>, P. K. Cheung, E. Daly, and D. E. Pataki, ‘‘Water smart cities increase irrigation to provide cool refuge in a climate crisis,’’ Earth’s Future, vol. 9, no. 1, Jan. 2021. e2020EF001806 </a:t>
            </a:r>
          </a:p>
          <a:p>
            <a:r>
              <a:rPr lang="en-US" dirty="0"/>
              <a:t>[4] L. D. Moro, L. D. </a:t>
            </a:r>
            <a:r>
              <a:rPr lang="en-US" dirty="0" err="1"/>
              <a:t>Gasperina</a:t>
            </a:r>
            <a:r>
              <a:rPr lang="en-US" dirty="0"/>
              <a:t>, R. V. </a:t>
            </a:r>
            <a:r>
              <a:rPr lang="en-US" dirty="0" err="1"/>
              <a:t>Pagnussat</a:t>
            </a:r>
            <a:r>
              <a:rPr lang="en-US" dirty="0"/>
              <a:t>, and L. L. </a:t>
            </a:r>
            <a:r>
              <a:rPr lang="en-US" dirty="0" err="1"/>
              <a:t>Brandli</a:t>
            </a:r>
            <a:r>
              <a:rPr lang="en-US" dirty="0"/>
              <a:t>, ‘‘Urban gardens: Possibilities of integration with smart practices,’’ in Water, Energy and Food Nexus in the Context of Strategies for Climate Change Mitigation. 2020, pp. 47–58, </a:t>
            </a:r>
            <a:r>
              <a:rPr lang="en-US" dirty="0" err="1"/>
              <a:t>ch.</a:t>
            </a:r>
            <a:r>
              <a:rPr lang="en-US" dirty="0"/>
              <a:t> 4.</a:t>
            </a:r>
          </a:p>
          <a:p>
            <a:r>
              <a:rPr lang="en-US" dirty="0"/>
              <a:t> [5] L. D. Moro, L. D. </a:t>
            </a:r>
            <a:r>
              <a:rPr lang="en-US" dirty="0" err="1"/>
              <a:t>Gasperina</a:t>
            </a:r>
            <a:r>
              <a:rPr lang="en-US" dirty="0"/>
              <a:t>, R. V. </a:t>
            </a:r>
            <a:r>
              <a:rPr lang="en-US" dirty="0" err="1"/>
              <a:t>Pagnussat</a:t>
            </a:r>
            <a:r>
              <a:rPr lang="en-US" dirty="0"/>
              <a:t>, and L. L. </a:t>
            </a:r>
            <a:r>
              <a:rPr lang="en-US" dirty="0" err="1"/>
              <a:t>Brandli</a:t>
            </a:r>
            <a:r>
              <a:rPr lang="en-US" dirty="0"/>
              <a:t>, ‘‘Urban gardens: Possibilities of integration with smart practices,’’ in Water, Energy and Food Nexus in the Context of Strategies for Climate Change Mitigation. Cham, Switzerland: Springer, 2020, pp. 47–58.</a:t>
            </a:r>
          </a:p>
          <a:p>
            <a:r>
              <a:rPr lang="en-US" dirty="0"/>
              <a:t> [6] P. </a:t>
            </a:r>
            <a:r>
              <a:rPr lang="en-US" dirty="0" err="1"/>
              <a:t>Fraga</a:t>
            </a:r>
            <a:r>
              <a:rPr lang="en-US" dirty="0"/>
              <a:t>-Lamas, M. Celaya-</a:t>
            </a:r>
            <a:r>
              <a:rPr lang="en-US" dirty="0" err="1"/>
              <a:t>Echarri</a:t>
            </a:r>
            <a:r>
              <a:rPr lang="en-US" dirty="0"/>
              <a:t>, L. </a:t>
            </a:r>
            <a:r>
              <a:rPr lang="en-US" dirty="0" err="1"/>
              <a:t>Azpilicueta</a:t>
            </a:r>
            <a:r>
              <a:rPr lang="en-US" dirty="0"/>
              <a:t>, P. Lopez-</a:t>
            </a:r>
            <a:r>
              <a:rPr lang="en-US" dirty="0" err="1"/>
              <a:t>Iturri</a:t>
            </a:r>
            <a:r>
              <a:rPr lang="en-US" dirty="0"/>
              <a:t>, F. Falcone, and T. M. </a:t>
            </a:r>
            <a:r>
              <a:rPr lang="en-US" dirty="0" err="1"/>
              <a:t>Fernández-Caramés</a:t>
            </a:r>
            <a:r>
              <a:rPr lang="en-US" dirty="0"/>
              <a:t>, ‘‘Design and empirical validation of a </a:t>
            </a:r>
            <a:r>
              <a:rPr lang="en-US" dirty="0" err="1"/>
              <a:t>LoRaWAN</a:t>
            </a:r>
            <a:r>
              <a:rPr lang="en-US" dirty="0"/>
              <a:t> IoT smart irrigation system,’’ Multidisciplinary Digit. Publishing Inst. Proc., vol. 42, no. 1, p. 62, 2020, </a:t>
            </a:r>
            <a:r>
              <a:rPr lang="en-US" dirty="0" err="1"/>
              <a:t>doi</a:t>
            </a:r>
            <a:r>
              <a:rPr lang="en-US" dirty="0"/>
              <a:t>: 10.3390/ecsa-6-06540</a:t>
            </a:r>
          </a:p>
          <a:p>
            <a:endParaRPr lang="en-US" dirty="0"/>
          </a:p>
        </p:txBody>
      </p:sp>
    </p:spTree>
    <p:extLst>
      <p:ext uri="{BB962C8B-B14F-4D97-AF65-F5344CB8AC3E}">
        <p14:creationId xmlns:p14="http://schemas.microsoft.com/office/powerpoint/2010/main" val="3744458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327</TotalTime>
  <Words>1375</Words>
  <Application>Microsoft Office PowerPoint</Application>
  <PresentationFormat>Widescreen</PresentationFormat>
  <Paragraphs>59</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   </vt:lpstr>
      <vt:lpstr>ABSTRACT </vt:lpstr>
      <vt:lpstr>Objective</vt:lpstr>
      <vt:lpstr>INTRODUCTION </vt:lpstr>
      <vt:lpstr>BLOCK DIAGRAM EXPLANATION </vt:lpstr>
      <vt:lpstr>EXISTING SYSTEM </vt:lpstr>
      <vt:lpstr>Drawbacks</vt:lpstr>
      <vt:lpstr>Advantages: </vt:lpstr>
      <vt:lpstr>PROPOSED SYSTEM </vt:lpstr>
      <vt:lpstr>BLOCK DIAGRAM </vt:lpstr>
      <vt:lpstr>BLOCK DIAGRAM </vt:lpstr>
      <vt:lpstr>MODULES </vt:lpstr>
      <vt:lpstr>HARDWARE </vt:lpstr>
      <vt:lpstr>Software</vt:lpstr>
      <vt:lpstr>CONCLUSION </vt:lpstr>
      <vt:lpstr>FUTURE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Design of the Facility Vegetable Environment Monitor System of Greenhouse Based on Internet of Things </dc:title>
  <dc:creator>mani</dc:creator>
  <cp:lastModifiedBy>Yakkanti Venkata Sri Charan Reddy</cp:lastModifiedBy>
  <cp:revision>11</cp:revision>
  <dcterms:created xsi:type="dcterms:W3CDTF">2023-01-29T18:54:42Z</dcterms:created>
  <dcterms:modified xsi:type="dcterms:W3CDTF">2023-03-10T09:16:03Z</dcterms:modified>
</cp:coreProperties>
</file>