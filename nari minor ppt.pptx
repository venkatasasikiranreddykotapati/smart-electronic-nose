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handoutMasterIdLst>
    <p:handoutMasterId r:id="rId16"/>
  </p:handoutMasterIdLst>
  <p:sldIdLst>
    <p:sldId id="257" r:id="rId2"/>
    <p:sldId id="261" r:id="rId3"/>
    <p:sldId id="262" r:id="rId4"/>
    <p:sldId id="258" r:id="rId5"/>
    <p:sldId id="259" r:id="rId6"/>
    <p:sldId id="260" r:id="rId7"/>
    <p:sldId id="271" r:id="rId8"/>
    <p:sldId id="263" r:id="rId9"/>
    <p:sldId id="276" r:id="rId10"/>
    <p:sldId id="286" r:id="rId11"/>
    <p:sldId id="287" r:id="rId12"/>
    <p:sldId id="266" r:id="rId13"/>
    <p:sldId id="285"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van Kumar" initials="PK" lastIdx="1" clrIdx="0">
    <p:extLst>
      <p:ext uri="{19B8F6BF-5375-455C-9EA6-DF929625EA0E}">
        <p15:presenceInfo xmlns:p15="http://schemas.microsoft.com/office/powerpoint/2012/main" userId="43a927d4853e939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p:cViewPr varScale="1">
        <p:scale>
          <a:sx n="58" d="100"/>
          <a:sy n="58" d="100"/>
        </p:scale>
        <p:origin x="1544" y="5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9C75C31-1C18-46B1-8A0F-25F688730052}" type="datetimeFigureOut">
              <a:rPr lang="en-US" smtClean="0"/>
              <a:t>2/13/2023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6A204C7-47CA-4D8B-AE3F-D35A4A8EE867}" type="slidenum">
              <a:rPr lang="en-US" smtClean="0"/>
              <a:t>‹#›</a:t>
            </a:fld>
            <a:endParaRPr lang="en-US"/>
          </a:p>
        </p:txBody>
      </p:sp>
    </p:spTree>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A23597B-99E9-4D89-B3A7-AF7269CF0CB0}" type="datetimeFigureOut">
              <a:rPr lang="en-IN" smtClean="0"/>
              <a:pPr/>
              <a:t>13-02-2023</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6E63E9F-17D9-4D9D-A155-C06C7C01E417}" type="slidenum">
              <a:rPr lang="en-IN" smtClean="0"/>
              <a:pPr/>
              <a:t>‹#›</a:t>
            </a:fld>
            <a:endParaRPr lang="en-IN"/>
          </a:p>
        </p:txBody>
      </p:sp>
    </p:spTree>
    <p:extLst>
      <p:ext uri="{BB962C8B-B14F-4D97-AF65-F5344CB8AC3E}">
        <p14:creationId xmlns:p14="http://schemas.microsoft.com/office/powerpoint/2010/main" val="1978767469"/>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0769F63-365D-4A0A-B033-A46EF4671CBB}" type="slidenum">
              <a:rPr lang="en-IN" smtClean="0"/>
              <a:pPr/>
              <a:t>1</a:t>
            </a:fld>
            <a:endParaRPr lang="en-IN"/>
          </a:p>
        </p:txBody>
      </p:sp>
      <p:sp>
        <p:nvSpPr>
          <p:cNvPr id="5" name="Footer Placeholder 4"/>
          <p:cNvSpPr>
            <a:spLocks noGrp="1"/>
          </p:cNvSpPr>
          <p:nvPr>
            <p:ph type="ftr" sz="quarter" idx="11"/>
          </p:nvPr>
        </p:nvSpPr>
        <p:spPr/>
        <p:txBody>
          <a:bodyPr/>
          <a:lstStyle/>
          <a:p>
            <a:r>
              <a:rPr lang="en-IN"/>
              <a:t>BATCH NO:                   PRESENTED DATE:</a:t>
            </a:r>
          </a:p>
        </p:txBody>
      </p:sp>
      <p:sp>
        <p:nvSpPr>
          <p:cNvPr id="6" name="Header Placeholder 5"/>
          <p:cNvSpPr>
            <a:spLocks noGrp="1"/>
          </p:cNvSpPr>
          <p:nvPr>
            <p:ph type="hdr" sz="quarter" idx="12"/>
          </p:nvPr>
        </p:nvSpPr>
        <p:spPr/>
        <p:txBody>
          <a:bodyPr/>
          <a:lstStyle/>
          <a:p>
            <a:r>
              <a:rPr lang="en-IN"/>
              <a:t>REVIEW-I</a:t>
            </a:r>
          </a:p>
        </p:txBody>
      </p:sp>
    </p:spTree>
    <p:extLst>
      <p:ext uri="{BB962C8B-B14F-4D97-AF65-F5344CB8AC3E}">
        <p14:creationId xmlns:p14="http://schemas.microsoft.com/office/powerpoint/2010/main" val="20121984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A140FEA5-454B-4044-8182-B76FB9A08BC0}" type="datetime1">
              <a:rPr lang="en-IN" smtClean="0"/>
              <a:t>13-02-2023</a:t>
            </a:fld>
            <a:endParaRPr lang="en-IN"/>
          </a:p>
        </p:txBody>
      </p:sp>
      <p:sp>
        <p:nvSpPr>
          <p:cNvPr id="5" name="Footer Placeholder 4"/>
          <p:cNvSpPr>
            <a:spLocks noGrp="1"/>
          </p:cNvSpPr>
          <p:nvPr>
            <p:ph type="ftr" sz="quarter" idx="11"/>
          </p:nvPr>
        </p:nvSpPr>
        <p:spPr/>
        <p:txBody>
          <a:bodyPr/>
          <a:lstStyle/>
          <a:p>
            <a:r>
              <a:rPr lang="en-IN"/>
              <a:t>BATCH NO:                   PRESENTED DATE:</a:t>
            </a:r>
          </a:p>
        </p:txBody>
      </p:sp>
      <p:sp>
        <p:nvSpPr>
          <p:cNvPr id="6" name="Slide Number Placeholder 5"/>
          <p:cNvSpPr>
            <a:spLocks noGrp="1"/>
          </p:cNvSpPr>
          <p:nvPr>
            <p:ph type="sldNum" sz="quarter" idx="12"/>
          </p:nvPr>
        </p:nvSpPr>
        <p:spPr/>
        <p:txBody>
          <a:bodyPr/>
          <a:lstStyle/>
          <a:p>
            <a:fld id="{669AD40C-E5A7-4132-A31D-54A4D1BB6E89}" type="slidenum">
              <a:rPr lang="en-IN" smtClean="0"/>
              <a:pPr/>
              <a:t>‹#›</a:t>
            </a:fld>
            <a:endParaRPr lang="en-IN"/>
          </a:p>
        </p:txBody>
      </p:sp>
    </p:spTree>
    <p:extLst>
      <p:ext uri="{BB962C8B-B14F-4D97-AF65-F5344CB8AC3E}">
        <p14:creationId xmlns:p14="http://schemas.microsoft.com/office/powerpoint/2010/main" val="19811475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F4FA0F5-6424-40BF-B8B7-4C330280225C}" type="datetime1">
              <a:rPr lang="en-IN" smtClean="0"/>
              <a:t>13-02-2023</a:t>
            </a:fld>
            <a:endParaRPr lang="en-IN"/>
          </a:p>
        </p:txBody>
      </p:sp>
      <p:sp>
        <p:nvSpPr>
          <p:cNvPr id="5" name="Footer Placeholder 4"/>
          <p:cNvSpPr>
            <a:spLocks noGrp="1"/>
          </p:cNvSpPr>
          <p:nvPr>
            <p:ph type="ftr" sz="quarter" idx="11"/>
          </p:nvPr>
        </p:nvSpPr>
        <p:spPr/>
        <p:txBody>
          <a:bodyPr/>
          <a:lstStyle/>
          <a:p>
            <a:r>
              <a:rPr lang="en-IN"/>
              <a:t>BATCH NO:                   PRESENTED DATE:</a:t>
            </a:r>
          </a:p>
        </p:txBody>
      </p:sp>
      <p:sp>
        <p:nvSpPr>
          <p:cNvPr id="6" name="Slide Number Placeholder 5"/>
          <p:cNvSpPr>
            <a:spLocks noGrp="1"/>
          </p:cNvSpPr>
          <p:nvPr>
            <p:ph type="sldNum" sz="quarter" idx="12"/>
          </p:nvPr>
        </p:nvSpPr>
        <p:spPr/>
        <p:txBody>
          <a:bodyPr/>
          <a:lstStyle/>
          <a:p>
            <a:fld id="{669AD40C-E5A7-4132-A31D-54A4D1BB6E89}" type="slidenum">
              <a:rPr lang="en-IN" smtClean="0"/>
              <a:pPr/>
              <a:t>‹#›</a:t>
            </a:fld>
            <a:endParaRPr lang="en-IN"/>
          </a:p>
        </p:txBody>
      </p:sp>
    </p:spTree>
    <p:extLst>
      <p:ext uri="{BB962C8B-B14F-4D97-AF65-F5344CB8AC3E}">
        <p14:creationId xmlns:p14="http://schemas.microsoft.com/office/powerpoint/2010/main" val="580337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47401E-99F8-46D5-BF88-168E4663FFF2}" type="datetime1">
              <a:rPr lang="en-IN" smtClean="0"/>
              <a:t>13-02-2023</a:t>
            </a:fld>
            <a:endParaRPr lang="en-IN"/>
          </a:p>
        </p:txBody>
      </p:sp>
      <p:sp>
        <p:nvSpPr>
          <p:cNvPr id="5" name="Footer Placeholder 4"/>
          <p:cNvSpPr>
            <a:spLocks noGrp="1"/>
          </p:cNvSpPr>
          <p:nvPr>
            <p:ph type="ftr" sz="quarter" idx="11"/>
          </p:nvPr>
        </p:nvSpPr>
        <p:spPr/>
        <p:txBody>
          <a:bodyPr/>
          <a:lstStyle/>
          <a:p>
            <a:r>
              <a:rPr lang="en-IN"/>
              <a:t>BATCH NO:                   PRESENTED DATE:</a:t>
            </a:r>
          </a:p>
        </p:txBody>
      </p:sp>
      <p:sp>
        <p:nvSpPr>
          <p:cNvPr id="6" name="Slide Number Placeholder 5"/>
          <p:cNvSpPr>
            <a:spLocks noGrp="1"/>
          </p:cNvSpPr>
          <p:nvPr>
            <p:ph type="sldNum" sz="quarter" idx="12"/>
          </p:nvPr>
        </p:nvSpPr>
        <p:spPr/>
        <p:txBody>
          <a:bodyPr/>
          <a:lstStyle/>
          <a:p>
            <a:fld id="{669AD40C-E5A7-4132-A31D-54A4D1BB6E89}" type="slidenum">
              <a:rPr lang="en-IN" smtClean="0"/>
              <a:pPr/>
              <a:t>‹#›</a:t>
            </a:fld>
            <a:endParaRPr lang="en-IN"/>
          </a:p>
        </p:txBody>
      </p:sp>
    </p:spTree>
    <p:extLst>
      <p:ext uri="{BB962C8B-B14F-4D97-AF65-F5344CB8AC3E}">
        <p14:creationId xmlns:p14="http://schemas.microsoft.com/office/powerpoint/2010/main" val="34138103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8DEDC44-0FF6-475F-9DC8-02E523DCF2E9}" type="datetime1">
              <a:rPr lang="en-IN" smtClean="0"/>
              <a:t>13-02-2023</a:t>
            </a:fld>
            <a:endParaRPr lang="en-IN"/>
          </a:p>
        </p:txBody>
      </p:sp>
      <p:sp>
        <p:nvSpPr>
          <p:cNvPr id="6" name="Footer Placeholder 5"/>
          <p:cNvSpPr>
            <a:spLocks noGrp="1"/>
          </p:cNvSpPr>
          <p:nvPr>
            <p:ph type="ftr" sz="quarter" idx="11"/>
          </p:nvPr>
        </p:nvSpPr>
        <p:spPr/>
        <p:txBody>
          <a:bodyPr/>
          <a:lstStyle/>
          <a:p>
            <a:r>
              <a:rPr lang="en-IN"/>
              <a:t>BATCH NO:                   PRESENTED DATE:</a:t>
            </a:r>
          </a:p>
        </p:txBody>
      </p:sp>
      <p:sp>
        <p:nvSpPr>
          <p:cNvPr id="7" name="Slide Number Placeholder 6"/>
          <p:cNvSpPr>
            <a:spLocks noGrp="1"/>
          </p:cNvSpPr>
          <p:nvPr>
            <p:ph type="sldNum" sz="quarter" idx="12"/>
          </p:nvPr>
        </p:nvSpPr>
        <p:spPr/>
        <p:txBody>
          <a:bodyPr/>
          <a:lstStyle/>
          <a:p>
            <a:fld id="{669AD40C-E5A7-4132-A31D-54A4D1BB6E89}" type="slidenum">
              <a:rPr lang="en-IN" smtClean="0"/>
              <a:pPr/>
              <a:t>‹#›</a:t>
            </a:fld>
            <a:endParaRPr lang="en-IN"/>
          </a:p>
        </p:txBody>
      </p:sp>
    </p:spTree>
    <p:extLst>
      <p:ext uri="{BB962C8B-B14F-4D97-AF65-F5344CB8AC3E}">
        <p14:creationId xmlns:p14="http://schemas.microsoft.com/office/powerpoint/2010/main" val="516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B172EA04-FDBB-4706-A7D4-557081C0AE70}" type="datetime1">
              <a:rPr lang="en-IN" smtClean="0"/>
              <a:t>13-02-2023</a:t>
            </a:fld>
            <a:endParaRPr lang="en-IN"/>
          </a:p>
        </p:txBody>
      </p:sp>
      <p:sp>
        <p:nvSpPr>
          <p:cNvPr id="8" name="Footer Placeholder 7"/>
          <p:cNvSpPr>
            <a:spLocks noGrp="1"/>
          </p:cNvSpPr>
          <p:nvPr>
            <p:ph type="ftr" sz="quarter" idx="11"/>
          </p:nvPr>
        </p:nvSpPr>
        <p:spPr/>
        <p:txBody>
          <a:bodyPr/>
          <a:lstStyle/>
          <a:p>
            <a:r>
              <a:rPr lang="en-IN"/>
              <a:t>BATCH NO:                   PRESENTED DATE:</a:t>
            </a:r>
          </a:p>
        </p:txBody>
      </p:sp>
      <p:sp>
        <p:nvSpPr>
          <p:cNvPr id="9" name="Slide Number Placeholder 8"/>
          <p:cNvSpPr>
            <a:spLocks noGrp="1"/>
          </p:cNvSpPr>
          <p:nvPr>
            <p:ph type="sldNum" sz="quarter" idx="12"/>
          </p:nvPr>
        </p:nvSpPr>
        <p:spPr/>
        <p:txBody>
          <a:bodyPr/>
          <a:lstStyle/>
          <a:p>
            <a:fld id="{669AD40C-E5A7-4132-A31D-54A4D1BB6E89}" type="slidenum">
              <a:rPr lang="en-IN" smtClean="0"/>
              <a:pPr/>
              <a:t>‹#›</a:t>
            </a:fld>
            <a:endParaRPr lang="en-IN"/>
          </a:p>
        </p:txBody>
      </p:sp>
    </p:spTree>
    <p:extLst>
      <p:ext uri="{BB962C8B-B14F-4D97-AF65-F5344CB8AC3E}">
        <p14:creationId xmlns:p14="http://schemas.microsoft.com/office/powerpoint/2010/main" val="2118790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09096E9-518F-4632-A6C3-F5ACA0892BA2}" type="datetime1">
              <a:rPr lang="en-IN" smtClean="0"/>
              <a:t>13-02-2023</a:t>
            </a:fld>
            <a:endParaRPr lang="en-IN"/>
          </a:p>
        </p:txBody>
      </p:sp>
      <p:sp>
        <p:nvSpPr>
          <p:cNvPr id="4" name="Footer Placeholder 3"/>
          <p:cNvSpPr>
            <a:spLocks noGrp="1"/>
          </p:cNvSpPr>
          <p:nvPr>
            <p:ph type="ftr" sz="quarter" idx="11"/>
          </p:nvPr>
        </p:nvSpPr>
        <p:spPr/>
        <p:txBody>
          <a:bodyPr/>
          <a:lstStyle/>
          <a:p>
            <a:r>
              <a:rPr lang="en-IN"/>
              <a:t>BATCH NO:                   PRESENTED DATE:</a:t>
            </a:r>
          </a:p>
        </p:txBody>
      </p:sp>
      <p:sp>
        <p:nvSpPr>
          <p:cNvPr id="5" name="Slide Number Placeholder 4"/>
          <p:cNvSpPr>
            <a:spLocks noGrp="1"/>
          </p:cNvSpPr>
          <p:nvPr>
            <p:ph type="sldNum" sz="quarter" idx="12"/>
          </p:nvPr>
        </p:nvSpPr>
        <p:spPr/>
        <p:txBody>
          <a:bodyPr/>
          <a:lstStyle/>
          <a:p>
            <a:fld id="{669AD40C-E5A7-4132-A31D-54A4D1BB6E89}" type="slidenum">
              <a:rPr lang="en-IN" smtClean="0"/>
              <a:pPr/>
              <a:t>‹#›</a:t>
            </a:fld>
            <a:endParaRPr lang="en-IN"/>
          </a:p>
        </p:txBody>
      </p:sp>
    </p:spTree>
    <p:extLst>
      <p:ext uri="{BB962C8B-B14F-4D97-AF65-F5344CB8AC3E}">
        <p14:creationId xmlns:p14="http://schemas.microsoft.com/office/powerpoint/2010/main" val="1902163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2F4512-2E1B-479E-977D-A8E4B0D54900}" type="datetime1">
              <a:rPr lang="en-IN" smtClean="0"/>
              <a:t>13-02-2023</a:t>
            </a:fld>
            <a:endParaRPr lang="en-IN"/>
          </a:p>
        </p:txBody>
      </p:sp>
      <p:sp>
        <p:nvSpPr>
          <p:cNvPr id="3" name="Footer Placeholder 2"/>
          <p:cNvSpPr>
            <a:spLocks noGrp="1"/>
          </p:cNvSpPr>
          <p:nvPr>
            <p:ph type="ftr" sz="quarter" idx="11"/>
          </p:nvPr>
        </p:nvSpPr>
        <p:spPr/>
        <p:txBody>
          <a:bodyPr/>
          <a:lstStyle/>
          <a:p>
            <a:r>
              <a:rPr lang="en-IN"/>
              <a:t>BATCH NO:                   PRESENTED DATE:</a:t>
            </a:r>
          </a:p>
        </p:txBody>
      </p:sp>
      <p:sp>
        <p:nvSpPr>
          <p:cNvPr id="4" name="Slide Number Placeholder 3"/>
          <p:cNvSpPr>
            <a:spLocks noGrp="1"/>
          </p:cNvSpPr>
          <p:nvPr>
            <p:ph type="sldNum" sz="quarter" idx="12"/>
          </p:nvPr>
        </p:nvSpPr>
        <p:spPr/>
        <p:txBody>
          <a:bodyPr/>
          <a:lstStyle/>
          <a:p>
            <a:fld id="{669AD40C-E5A7-4132-A31D-54A4D1BB6E89}" type="slidenum">
              <a:rPr lang="en-IN" smtClean="0"/>
              <a:pPr/>
              <a:t>‹#›</a:t>
            </a:fld>
            <a:endParaRPr lang="en-IN"/>
          </a:p>
        </p:txBody>
      </p:sp>
    </p:spTree>
    <p:extLst>
      <p:ext uri="{BB962C8B-B14F-4D97-AF65-F5344CB8AC3E}">
        <p14:creationId xmlns:p14="http://schemas.microsoft.com/office/powerpoint/2010/main" val="510164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C8641F5-932D-41F6-B67D-278967BD7538}" type="datetime1">
              <a:rPr lang="en-IN" smtClean="0"/>
              <a:t>13-02-2023</a:t>
            </a:fld>
            <a:endParaRPr lang="en-IN"/>
          </a:p>
        </p:txBody>
      </p:sp>
      <p:sp>
        <p:nvSpPr>
          <p:cNvPr id="6" name="Footer Placeholder 5"/>
          <p:cNvSpPr>
            <a:spLocks noGrp="1"/>
          </p:cNvSpPr>
          <p:nvPr>
            <p:ph type="ftr" sz="quarter" idx="11"/>
          </p:nvPr>
        </p:nvSpPr>
        <p:spPr/>
        <p:txBody>
          <a:bodyPr/>
          <a:lstStyle/>
          <a:p>
            <a:r>
              <a:rPr lang="en-IN"/>
              <a:t>BATCH NO:                   PRESENTED DATE:</a:t>
            </a:r>
          </a:p>
        </p:txBody>
      </p:sp>
      <p:sp>
        <p:nvSpPr>
          <p:cNvPr id="7" name="Slide Number Placeholder 6"/>
          <p:cNvSpPr>
            <a:spLocks noGrp="1"/>
          </p:cNvSpPr>
          <p:nvPr>
            <p:ph type="sldNum" sz="quarter" idx="12"/>
          </p:nvPr>
        </p:nvSpPr>
        <p:spPr/>
        <p:txBody>
          <a:bodyPr/>
          <a:lstStyle/>
          <a:p>
            <a:fld id="{669AD40C-E5A7-4132-A31D-54A4D1BB6E89}" type="slidenum">
              <a:rPr lang="en-IN" smtClean="0"/>
              <a:pPr/>
              <a:t>‹#›</a:t>
            </a:fld>
            <a:endParaRPr lang="en-IN"/>
          </a:p>
        </p:txBody>
      </p:sp>
    </p:spTree>
    <p:extLst>
      <p:ext uri="{BB962C8B-B14F-4D97-AF65-F5344CB8AC3E}">
        <p14:creationId xmlns:p14="http://schemas.microsoft.com/office/powerpoint/2010/main" val="4870340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BD44FC8-D3BB-4894-BCCD-7574A3411B0A}" type="datetime1">
              <a:rPr lang="en-IN" smtClean="0"/>
              <a:t>13-02-2023</a:t>
            </a:fld>
            <a:endParaRPr lang="en-IN"/>
          </a:p>
        </p:txBody>
      </p:sp>
      <p:sp>
        <p:nvSpPr>
          <p:cNvPr id="6" name="Footer Placeholder 5"/>
          <p:cNvSpPr>
            <a:spLocks noGrp="1"/>
          </p:cNvSpPr>
          <p:nvPr>
            <p:ph type="ftr" sz="quarter" idx="11"/>
          </p:nvPr>
        </p:nvSpPr>
        <p:spPr/>
        <p:txBody>
          <a:bodyPr/>
          <a:lstStyle/>
          <a:p>
            <a:r>
              <a:rPr lang="en-IN"/>
              <a:t>BATCH NO:                   PRESENTED DATE:</a:t>
            </a:r>
          </a:p>
        </p:txBody>
      </p:sp>
      <p:sp>
        <p:nvSpPr>
          <p:cNvPr id="7" name="Slide Number Placeholder 6"/>
          <p:cNvSpPr>
            <a:spLocks noGrp="1"/>
          </p:cNvSpPr>
          <p:nvPr>
            <p:ph type="sldNum" sz="quarter" idx="12"/>
          </p:nvPr>
        </p:nvSpPr>
        <p:spPr/>
        <p:txBody>
          <a:bodyPr/>
          <a:lstStyle/>
          <a:p>
            <a:fld id="{669AD40C-E5A7-4132-A31D-54A4D1BB6E89}" type="slidenum">
              <a:rPr lang="en-IN" smtClean="0"/>
              <a:pPr/>
              <a:t>‹#›</a:t>
            </a:fld>
            <a:endParaRPr lang="en-IN"/>
          </a:p>
        </p:txBody>
      </p:sp>
    </p:spTree>
    <p:extLst>
      <p:ext uri="{BB962C8B-B14F-4D97-AF65-F5344CB8AC3E}">
        <p14:creationId xmlns:p14="http://schemas.microsoft.com/office/powerpoint/2010/main" val="3094070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61AD65A-1381-4F98-A63A-C03616A71403}" type="datetime1">
              <a:rPr lang="en-IN" smtClean="0"/>
              <a:t>13-02-2023</a:t>
            </a:fld>
            <a:endParaRPr lang="en-IN"/>
          </a:p>
        </p:txBody>
      </p:sp>
      <p:sp>
        <p:nvSpPr>
          <p:cNvPr id="5" name="Footer Placeholder 4"/>
          <p:cNvSpPr>
            <a:spLocks noGrp="1"/>
          </p:cNvSpPr>
          <p:nvPr>
            <p:ph type="ftr" sz="quarter" idx="11"/>
          </p:nvPr>
        </p:nvSpPr>
        <p:spPr/>
        <p:txBody>
          <a:bodyPr/>
          <a:lstStyle/>
          <a:p>
            <a:r>
              <a:rPr lang="en-IN"/>
              <a:t>BATCH NO:                   PRESENTED DATE:</a:t>
            </a:r>
          </a:p>
        </p:txBody>
      </p:sp>
      <p:sp>
        <p:nvSpPr>
          <p:cNvPr id="6" name="Slide Number Placeholder 5"/>
          <p:cNvSpPr>
            <a:spLocks noGrp="1"/>
          </p:cNvSpPr>
          <p:nvPr>
            <p:ph type="sldNum" sz="quarter" idx="12"/>
          </p:nvPr>
        </p:nvSpPr>
        <p:spPr/>
        <p:txBody>
          <a:bodyPr/>
          <a:lstStyle/>
          <a:p>
            <a:fld id="{669AD40C-E5A7-4132-A31D-54A4D1BB6E89}" type="slidenum">
              <a:rPr lang="en-IN" smtClean="0"/>
              <a:pPr/>
              <a:t>‹#›</a:t>
            </a:fld>
            <a:endParaRPr lang="en-IN"/>
          </a:p>
        </p:txBody>
      </p:sp>
    </p:spTree>
    <p:extLst>
      <p:ext uri="{BB962C8B-B14F-4D97-AF65-F5344CB8AC3E}">
        <p14:creationId xmlns:p14="http://schemas.microsoft.com/office/powerpoint/2010/main" val="361413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ABC191E-4E42-4943-B3C2-9C5FF64DF0B1}" type="datetime1">
              <a:rPr lang="en-IN" smtClean="0"/>
              <a:t>13-02-2023</a:t>
            </a:fld>
            <a:endParaRPr lang="en-IN"/>
          </a:p>
        </p:txBody>
      </p:sp>
      <p:sp>
        <p:nvSpPr>
          <p:cNvPr id="5" name="Footer Placeholder 4"/>
          <p:cNvSpPr>
            <a:spLocks noGrp="1"/>
          </p:cNvSpPr>
          <p:nvPr>
            <p:ph type="ftr" sz="quarter" idx="11"/>
          </p:nvPr>
        </p:nvSpPr>
        <p:spPr/>
        <p:txBody>
          <a:bodyPr/>
          <a:lstStyle/>
          <a:p>
            <a:r>
              <a:rPr lang="en-IN"/>
              <a:t>BATCH NO:                   PRESENTED DATE:</a:t>
            </a:r>
          </a:p>
        </p:txBody>
      </p:sp>
      <p:sp>
        <p:nvSpPr>
          <p:cNvPr id="6" name="Slide Number Placeholder 5"/>
          <p:cNvSpPr>
            <a:spLocks noGrp="1"/>
          </p:cNvSpPr>
          <p:nvPr>
            <p:ph type="sldNum" sz="quarter" idx="12"/>
          </p:nvPr>
        </p:nvSpPr>
        <p:spPr/>
        <p:txBody>
          <a:bodyPr/>
          <a:lstStyle/>
          <a:p>
            <a:fld id="{669AD40C-E5A7-4132-A31D-54A4D1BB6E89}" type="slidenum">
              <a:rPr lang="en-IN" smtClean="0"/>
              <a:pPr/>
              <a:t>‹#›</a:t>
            </a:fld>
            <a:endParaRPr lang="en-IN"/>
          </a:p>
        </p:txBody>
      </p:sp>
    </p:spTree>
    <p:extLst>
      <p:ext uri="{BB962C8B-B14F-4D97-AF65-F5344CB8AC3E}">
        <p14:creationId xmlns:p14="http://schemas.microsoft.com/office/powerpoint/2010/main" val="11595049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D4EE3E-49BF-4850-BEF4-2D267339C10C}" type="datetime1">
              <a:rPr lang="en-IN" smtClean="0"/>
              <a:t>13-02-2023</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BATCH NO:                   PRESENTED DATE:</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9AD40C-E5A7-4132-A31D-54A4D1BB6E89}" type="slidenum">
              <a:rPr lang="en-IN" smtClean="0"/>
              <a:pPr/>
              <a:t>‹#›</a:t>
            </a:fld>
            <a:endParaRPr lang="en-IN"/>
          </a:p>
        </p:txBody>
      </p:sp>
    </p:spTree>
    <p:extLst>
      <p:ext uri="{BB962C8B-B14F-4D97-AF65-F5344CB8AC3E}">
        <p14:creationId xmlns:p14="http://schemas.microsoft.com/office/powerpoint/2010/main" val="18053841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Logo VTU"/>
          <p:cNvPicPr/>
          <p:nvPr/>
        </p:nvPicPr>
        <p:blipFill>
          <a:blip r:embed="rId3">
            <a:extLst>
              <a:ext uri="{28A0092B-C50C-407E-A947-70E740481C1C}">
                <a14:useLocalDpi xmlns:a14="http://schemas.microsoft.com/office/drawing/2010/main" val="0"/>
              </a:ext>
            </a:extLst>
          </a:blip>
          <a:srcRect/>
          <a:stretch>
            <a:fillRect/>
          </a:stretch>
        </p:blipFill>
        <p:spPr bwMode="auto">
          <a:xfrm>
            <a:off x="1979711" y="548673"/>
            <a:ext cx="5040557" cy="1008105"/>
          </a:xfrm>
          <a:prstGeom prst="rect">
            <a:avLst/>
          </a:prstGeom>
          <a:noFill/>
          <a:ln>
            <a:noFill/>
          </a:ln>
        </p:spPr>
      </p:pic>
      <p:sp>
        <p:nvSpPr>
          <p:cNvPr id="4" name="Rectangle 3"/>
          <p:cNvSpPr/>
          <p:nvPr/>
        </p:nvSpPr>
        <p:spPr>
          <a:xfrm>
            <a:off x="755577" y="1700812"/>
            <a:ext cx="7848874" cy="1605376"/>
          </a:xfrm>
          <a:prstGeom prst="rect">
            <a:avLst/>
          </a:prstGeom>
        </p:spPr>
        <p:txBody>
          <a:bodyPr wrap="square">
            <a:spAutoFit/>
          </a:bodyPr>
          <a:lstStyle/>
          <a:p>
            <a:pPr algn="ctr"/>
            <a:r>
              <a:rPr lang="en-US" sz="1600" b="1" dirty="0">
                <a:latin typeface="Times New Roman"/>
                <a:ea typeface="Verdana"/>
                <a:cs typeface="Times New Roman"/>
              </a:rPr>
              <a:t> </a:t>
            </a:r>
            <a:r>
              <a:rPr lang="en-US" sz="1600" b="1" spc="-25" dirty="0">
                <a:latin typeface="Times New Roman"/>
                <a:cs typeface="Times New Roman"/>
              </a:rPr>
              <a:t>DEPARTMENT </a:t>
            </a:r>
            <a:r>
              <a:rPr lang="en-US" sz="1600" b="1" spc="-5" dirty="0">
                <a:latin typeface="Times New Roman"/>
                <a:cs typeface="Times New Roman"/>
              </a:rPr>
              <a:t>OF </a:t>
            </a:r>
            <a:r>
              <a:rPr lang="en-US" sz="1600" b="1" spc="-125" dirty="0">
                <a:latin typeface="Times New Roman"/>
                <a:cs typeface="Times New Roman"/>
              </a:rPr>
              <a:t> ELECTRONICS </a:t>
            </a:r>
            <a:r>
              <a:rPr lang="en-US" sz="1600" b="1" dirty="0">
                <a:latin typeface="Times New Roman"/>
                <a:cs typeface="Times New Roman"/>
              </a:rPr>
              <a:t>&amp; COMMUNICATION </a:t>
            </a:r>
            <a:r>
              <a:rPr lang="en-US" sz="1600" b="1" spc="-5" dirty="0">
                <a:latin typeface="Times New Roman"/>
                <a:cs typeface="Times New Roman"/>
              </a:rPr>
              <a:t>ENGINEERING </a:t>
            </a:r>
            <a:endParaRPr lang="en-US" sz="1800" b="1" spc="-5" dirty="0">
              <a:latin typeface="Times New Roman"/>
              <a:cs typeface="Times New Roman"/>
            </a:endParaRPr>
          </a:p>
          <a:p>
            <a:pPr algn="ctr"/>
            <a:endParaRPr sz="1600" b="1" dirty="0">
              <a:latin typeface="Times New Roman"/>
              <a:ea typeface="Verdana"/>
              <a:cs typeface="Times New Roman"/>
            </a:endParaRPr>
          </a:p>
          <a:p>
            <a:pPr algn="ctr"/>
            <a:r>
              <a:rPr sz="1600" b="1" dirty="0">
                <a:latin typeface="Times New Roman"/>
                <a:ea typeface="Verdana"/>
                <a:cs typeface="Times New Roman"/>
              </a:rPr>
              <a:t>115</a:t>
            </a:r>
            <a:r>
              <a:rPr lang="en-US" sz="1600" b="1" dirty="0">
                <a:latin typeface="Times New Roman"/>
                <a:ea typeface="Verdana"/>
                <a:cs typeface="Times New Roman"/>
              </a:rPr>
              <a:t>6EC701-MAJOR</a:t>
            </a:r>
            <a:r>
              <a:rPr sz="1600" b="1" dirty="0">
                <a:latin typeface="Times New Roman"/>
                <a:ea typeface="Verdana"/>
                <a:cs typeface="Times New Roman"/>
              </a:rPr>
              <a:t> PROJECT</a:t>
            </a:r>
          </a:p>
          <a:p>
            <a:pPr algn="ctr"/>
            <a:r>
              <a:rPr lang="en-US" sz="1600" b="1" dirty="0">
                <a:latin typeface="Times New Roman"/>
                <a:ea typeface="Verdana"/>
                <a:cs typeface="Times New Roman"/>
              </a:rPr>
              <a:t>SUMMER </a:t>
            </a:r>
            <a:r>
              <a:rPr sz="1600" b="1" dirty="0">
                <a:latin typeface="Times New Roman"/>
                <a:ea typeface="Verdana"/>
                <a:cs typeface="Times New Roman"/>
              </a:rPr>
              <a:t>SEMESTER 2</a:t>
            </a:r>
          </a:p>
          <a:p>
            <a:pPr algn="ctr"/>
            <a:r>
              <a:rPr sz="1600" b="1" dirty="0">
                <a:latin typeface="Times New Roman"/>
                <a:ea typeface="Verdana"/>
                <a:cs typeface="Times New Roman"/>
              </a:rPr>
              <a:t>REVIEW </a:t>
            </a:r>
            <a:endParaRPr sz="1600" dirty="0">
              <a:latin typeface="Times New Roman"/>
              <a:ea typeface="Verdana"/>
              <a:cs typeface="Times New Roman"/>
            </a:endParaRPr>
          </a:p>
          <a:p>
            <a:pPr algn="ctr"/>
            <a:endParaRPr dirty="0"/>
          </a:p>
        </p:txBody>
      </p:sp>
      <p:sp>
        <p:nvSpPr>
          <p:cNvPr id="7" name="Rectangle 6"/>
          <p:cNvSpPr/>
          <p:nvPr/>
        </p:nvSpPr>
        <p:spPr>
          <a:xfrm>
            <a:off x="557812" y="3362794"/>
            <a:ext cx="7848874" cy="707886"/>
          </a:xfrm>
          <a:prstGeom prst="rect">
            <a:avLst/>
          </a:prstGeom>
        </p:spPr>
        <p:txBody>
          <a:bodyPr wrap="square">
            <a:spAutoFit/>
          </a:bodyPr>
          <a:lstStyle/>
          <a:p>
            <a:pPr algn="ctr"/>
            <a:r>
              <a:rPr sz="2000" b="1" dirty="0">
                <a:latin typeface="Times New Roman"/>
                <a:cs typeface="Times New Roman"/>
              </a:rPr>
              <a:t>“</a:t>
            </a:r>
            <a:r>
              <a:rPr lang="en-US" sz="2000" b="1" dirty="0">
                <a:latin typeface="Times New Roman"/>
                <a:cs typeface="Times New Roman"/>
              </a:rPr>
              <a:t>DESIGN AND DEVELOPEMENT OF E NOSE FOR FOOD QUALITY ANALYSIS</a:t>
            </a:r>
            <a:r>
              <a:rPr sz="2000" b="1" dirty="0">
                <a:latin typeface="Times New Roman"/>
                <a:cs typeface="Times New Roman"/>
              </a:rPr>
              <a:t>”</a:t>
            </a:r>
            <a:endParaRPr sz="2000" dirty="0"/>
          </a:p>
        </p:txBody>
      </p:sp>
      <p:sp>
        <p:nvSpPr>
          <p:cNvPr id="8" name="Rectangle 7"/>
          <p:cNvSpPr/>
          <p:nvPr/>
        </p:nvSpPr>
        <p:spPr>
          <a:xfrm>
            <a:off x="3581404" y="4869163"/>
            <a:ext cx="5346566" cy="1169551"/>
          </a:xfrm>
          <a:prstGeom prst="rect">
            <a:avLst/>
          </a:prstGeom>
        </p:spPr>
        <p:txBody>
          <a:bodyPr wrap="square">
            <a:spAutoFit/>
          </a:bodyPr>
          <a:lstStyle/>
          <a:p>
            <a:r>
              <a:rPr sz="1400" b="1" dirty="0">
                <a:latin typeface="Times New Roman"/>
                <a:cs typeface="Times New Roman"/>
              </a:rPr>
              <a:t>PRESENTED BY</a:t>
            </a:r>
          </a:p>
          <a:p>
            <a:pPr algn="ctr"/>
            <a:endParaRPr sz="1400" b="1" dirty="0">
              <a:latin typeface="Times New Roman"/>
              <a:cs typeface="Times New Roman"/>
            </a:endParaRPr>
          </a:p>
          <a:p>
            <a:pPr algn="just"/>
            <a:r>
              <a:rPr sz="1400" b="1" dirty="0">
                <a:latin typeface="Times New Roman"/>
                <a:cs typeface="Times New Roman"/>
              </a:rPr>
              <a:t>1.</a:t>
            </a:r>
            <a:r>
              <a:rPr lang="en-US" sz="1400" b="1" dirty="0">
                <a:latin typeface="Times New Roman"/>
                <a:cs typeface="Times New Roman"/>
              </a:rPr>
              <a:t>K.V.SASI KIRAN REDDY</a:t>
            </a:r>
            <a:r>
              <a:rPr sz="1400" b="1" dirty="0">
                <a:latin typeface="Times New Roman"/>
                <a:cs typeface="Times New Roman"/>
              </a:rPr>
              <a:t>	               (11</a:t>
            </a:r>
            <a:r>
              <a:rPr lang="en-US" sz="1400" b="1" dirty="0">
                <a:latin typeface="Times New Roman"/>
                <a:cs typeface="Times New Roman"/>
              </a:rPr>
              <a:t>572</a:t>
            </a:r>
            <a:r>
              <a:rPr sz="1400" b="1" dirty="0">
                <a:latin typeface="Times New Roman"/>
                <a:cs typeface="Times New Roman"/>
              </a:rPr>
              <a:t>)(19UE</a:t>
            </a:r>
            <a:r>
              <a:rPr lang="en-US" sz="1400" b="1" dirty="0">
                <a:latin typeface="Times New Roman"/>
                <a:cs typeface="Times New Roman"/>
              </a:rPr>
              <a:t>EC0272</a:t>
            </a:r>
            <a:r>
              <a:rPr sz="1400" b="1" dirty="0">
                <a:latin typeface="Times New Roman"/>
                <a:cs typeface="Times New Roman"/>
              </a:rPr>
              <a:t>)</a:t>
            </a:r>
          </a:p>
          <a:p>
            <a:pPr algn="just"/>
            <a:r>
              <a:rPr sz="1400" b="1" dirty="0">
                <a:latin typeface="Times New Roman"/>
                <a:cs typeface="Times New Roman"/>
              </a:rPr>
              <a:t>2. </a:t>
            </a:r>
            <a:r>
              <a:rPr lang="en-US" sz="1400" b="1" dirty="0">
                <a:latin typeface="Times New Roman"/>
                <a:cs typeface="Times New Roman"/>
              </a:rPr>
              <a:t>Y.V.SRI CHARAN REDDY</a:t>
            </a:r>
            <a:r>
              <a:rPr sz="1400" b="1" dirty="0">
                <a:latin typeface="Times New Roman"/>
                <a:cs typeface="Times New Roman"/>
              </a:rPr>
              <a:t>	               (1</a:t>
            </a:r>
            <a:r>
              <a:rPr lang="en-US" sz="1400" b="1" dirty="0">
                <a:latin typeface="Times New Roman"/>
                <a:cs typeface="Times New Roman"/>
              </a:rPr>
              <a:t>1823</a:t>
            </a:r>
            <a:r>
              <a:rPr sz="1400" b="1" dirty="0">
                <a:latin typeface="Times New Roman"/>
                <a:cs typeface="Times New Roman"/>
              </a:rPr>
              <a:t>)(19UE</a:t>
            </a:r>
            <a:r>
              <a:rPr lang="en-US" sz="1400" b="1" dirty="0">
                <a:latin typeface="Times New Roman"/>
                <a:cs typeface="Times New Roman"/>
              </a:rPr>
              <a:t>EC0630</a:t>
            </a:r>
            <a:r>
              <a:rPr sz="1400" b="1" dirty="0">
                <a:latin typeface="Times New Roman"/>
                <a:cs typeface="Times New Roman"/>
              </a:rPr>
              <a:t>)</a:t>
            </a:r>
          </a:p>
          <a:p>
            <a:pPr algn="just"/>
            <a:r>
              <a:rPr sz="1400" b="1" dirty="0">
                <a:latin typeface="Times New Roman"/>
                <a:cs typeface="Times New Roman"/>
              </a:rPr>
              <a:t>3. Y</a:t>
            </a:r>
            <a:r>
              <a:rPr lang="en-US" sz="1400" b="1" dirty="0">
                <a:latin typeface="Times New Roman"/>
                <a:cs typeface="Times New Roman"/>
              </a:rPr>
              <a:t>.MAHESHWARAREDDYY</a:t>
            </a:r>
            <a:r>
              <a:rPr sz="1400" b="1" dirty="0">
                <a:latin typeface="Times New Roman"/>
                <a:cs typeface="Times New Roman"/>
              </a:rPr>
              <a:t>	               (11</a:t>
            </a:r>
            <a:r>
              <a:rPr lang="en-US" sz="1400" b="1" dirty="0">
                <a:latin typeface="Times New Roman"/>
                <a:cs typeface="Times New Roman"/>
              </a:rPr>
              <a:t>571</a:t>
            </a:r>
            <a:r>
              <a:rPr sz="1400" b="1" dirty="0">
                <a:latin typeface="Times New Roman"/>
                <a:cs typeface="Times New Roman"/>
              </a:rPr>
              <a:t>)(19UE</a:t>
            </a:r>
            <a:r>
              <a:rPr lang="en-US" sz="1400" b="1" dirty="0">
                <a:latin typeface="Times New Roman"/>
                <a:cs typeface="Times New Roman"/>
              </a:rPr>
              <a:t>EC0645</a:t>
            </a:r>
            <a:r>
              <a:rPr sz="1400" b="1" dirty="0">
                <a:latin typeface="Times New Roman"/>
                <a:cs typeface="Times New Roman"/>
              </a:rPr>
              <a:t>)</a:t>
            </a:r>
          </a:p>
        </p:txBody>
      </p:sp>
      <p:sp>
        <p:nvSpPr>
          <p:cNvPr id="9" name="Rectangle 8"/>
          <p:cNvSpPr/>
          <p:nvPr/>
        </p:nvSpPr>
        <p:spPr>
          <a:xfrm>
            <a:off x="557812" y="4869163"/>
            <a:ext cx="2843812" cy="954109"/>
          </a:xfrm>
          <a:prstGeom prst="rect">
            <a:avLst/>
          </a:prstGeom>
        </p:spPr>
        <p:txBody>
          <a:bodyPr wrap="square">
            <a:spAutoFit/>
          </a:bodyPr>
          <a:lstStyle/>
          <a:p>
            <a:r>
              <a:rPr sz="1400" b="1" dirty="0">
                <a:latin typeface="Times New Roman"/>
                <a:cs typeface="Times New Roman"/>
              </a:rPr>
              <a:t>SUPERVISED BY</a:t>
            </a:r>
          </a:p>
          <a:p>
            <a:endParaRPr sz="1400" b="1" dirty="0">
              <a:latin typeface="Times New Roman"/>
              <a:cs typeface="Times New Roman"/>
            </a:endParaRPr>
          </a:p>
          <a:p>
            <a:r>
              <a:rPr sz="1400" b="1" dirty="0" err="1">
                <a:latin typeface="Times New Roman"/>
                <a:cs typeface="Times New Roman"/>
              </a:rPr>
              <a:t>Dr.</a:t>
            </a:r>
            <a:r>
              <a:rPr lang="en-US" sz="1400" b="1" dirty="0" err="1">
                <a:latin typeface="Times New Roman"/>
                <a:cs typeface="Times New Roman"/>
              </a:rPr>
              <a:t>E.D</a:t>
            </a:r>
            <a:r>
              <a:rPr lang="en-US" sz="1400" b="1" dirty="0">
                <a:latin typeface="Times New Roman"/>
                <a:cs typeface="Times New Roman"/>
              </a:rPr>
              <a:t> KANMANI RUBY</a:t>
            </a:r>
            <a:endParaRPr sz="1400" b="1" dirty="0">
              <a:latin typeface="Times New Roman"/>
              <a:cs typeface="Times New Roman"/>
            </a:endParaRPr>
          </a:p>
          <a:p>
            <a:r>
              <a:rPr sz="1400" b="1" dirty="0" err="1">
                <a:latin typeface="Times New Roman"/>
                <a:cs typeface="Times New Roman"/>
              </a:rPr>
              <a:t>Proffesor</a:t>
            </a:r>
            <a:endParaRPr sz="1400" dirty="0"/>
          </a:p>
        </p:txBody>
      </p:sp>
    </p:spTree>
    <p:extLst>
      <p:ext uri="{BB962C8B-B14F-4D97-AF65-F5344CB8AC3E}">
        <p14:creationId xmlns:p14="http://schemas.microsoft.com/office/powerpoint/2010/main" val="24277538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4576" y="136526"/>
            <a:ext cx="8229600" cy="1143000"/>
          </a:xfrm>
        </p:spPr>
        <p:txBody>
          <a:bodyPr/>
          <a:lstStyle/>
          <a:p>
            <a:r>
              <a:rPr sz="2400" b="1">
                <a:latin typeface="Times New Roman"/>
                <a:cs typeface="Times New Roman"/>
              </a:rPr>
              <a:t>INTRODUCTION</a:t>
            </a:r>
            <a:endParaRPr/>
          </a:p>
        </p:txBody>
      </p:sp>
      <p:sp>
        <p:nvSpPr>
          <p:cNvPr id="6" name="TextBox 5">
            <a:extLst>
              <a:ext uri="{FF2B5EF4-FFF2-40B4-BE49-F238E27FC236}">
                <a16:creationId xmlns:a16="http://schemas.microsoft.com/office/drawing/2014/main" id="{1D1F99E2-FDC7-F25C-DD61-D0F6B782437D}"/>
              </a:ext>
            </a:extLst>
          </p:cNvPr>
          <p:cNvSpPr txBox="1"/>
          <p:nvPr/>
        </p:nvSpPr>
        <p:spPr>
          <a:xfrm>
            <a:off x="609600" y="1066800"/>
            <a:ext cx="8092978" cy="3416320"/>
          </a:xfrm>
          <a:prstGeom prst="rect">
            <a:avLst/>
          </a:prstGeom>
          <a:noFill/>
        </p:spPr>
        <p:txBody>
          <a:bodyPr wrap="square">
            <a:spAutoFit/>
          </a:bodyPr>
          <a:lstStyle/>
          <a:p>
            <a:pPr marL="285750" indent="-285750">
              <a:buFont typeface="Wingdings" panose="05000000000000000000" pitchFamily="2" charset="2"/>
              <a:buChar char="Ø"/>
            </a:pPr>
            <a:r>
              <a:rPr lang="en-US" dirty="0"/>
              <a:t>An electronic nose (e-nose) is a device that uses sensors to mimic the human sense of smell in order to detect and identify various odors. E-noses have been developed for a variety of applications, including food quality analysis.</a:t>
            </a:r>
          </a:p>
          <a:p>
            <a:pPr marL="285750" indent="-285750">
              <a:buFont typeface="Wingdings" panose="05000000000000000000" pitchFamily="2" charset="2"/>
              <a:buChar char="Ø"/>
            </a:pPr>
            <a:r>
              <a:rPr lang="en-US" dirty="0"/>
              <a:t> The design and development of an e-nose for food quality analysis involves selecting appropriate sensors, creating a sensor array, and developing algorithms for data analysis. </a:t>
            </a:r>
          </a:p>
          <a:p>
            <a:pPr marL="285750" indent="-285750">
              <a:buFont typeface="Wingdings" panose="05000000000000000000" pitchFamily="2" charset="2"/>
              <a:buChar char="Ø"/>
            </a:pPr>
            <a:r>
              <a:rPr lang="en-US" dirty="0"/>
              <a:t>The goal is to create a device that can accurately and consistently detect and identify specific odors associated with food quality, such as spoiled or rancid odors.</a:t>
            </a:r>
          </a:p>
          <a:p>
            <a:pPr marL="285750" indent="-285750">
              <a:buFont typeface="Wingdings" panose="05000000000000000000" pitchFamily="2" charset="2"/>
              <a:buChar char="Ø"/>
            </a:pPr>
            <a:r>
              <a:rPr lang="en-US" dirty="0"/>
              <a:t> The device can be used in food processing and storage facilities to monitor food quality and ensure that only safe, high-quality products are distributed to consumers.</a:t>
            </a:r>
          </a:p>
        </p:txBody>
      </p:sp>
    </p:spTree>
    <p:extLst>
      <p:ext uri="{BB962C8B-B14F-4D97-AF65-F5344CB8AC3E}">
        <p14:creationId xmlns:p14="http://schemas.microsoft.com/office/powerpoint/2010/main" val="21354417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b="1">
                <a:latin typeface="Times New Roman"/>
                <a:cs typeface="Times New Roman"/>
              </a:rPr>
              <a:t>LITERATURE REVIEW</a:t>
            </a:r>
            <a:endParaRPr/>
          </a:p>
        </p:txBody>
      </p:sp>
      <p:sp>
        <p:nvSpPr>
          <p:cNvPr id="8" name="Content Placeholder 2"/>
          <p:cNvSpPr>
            <a:spLocks noGrp="1"/>
          </p:cNvSpPr>
          <p:nvPr>
            <p:ph idx="1"/>
          </p:nvPr>
        </p:nvSpPr>
        <p:spPr>
          <a:xfrm>
            <a:off x="457200" y="1600200"/>
            <a:ext cx="8229600" cy="4525956"/>
          </a:xfrm>
        </p:spPr>
        <p:txBody>
          <a:bodyPr>
            <a:normAutofit/>
          </a:bodyPr>
          <a:lstStyle/>
          <a:p>
            <a:pPr marL="0" indent="0" algn="just">
              <a:buNone/>
            </a:pPr>
            <a:r>
              <a:rPr sz="1800" b="1">
                <a:latin typeface="Times New Roman"/>
                <a:cs typeface="Times New Roman"/>
              </a:rPr>
              <a:t>	Szadzinska, J,Lechtanska, J, Pashminehazar, R.; Kharaghani, A.; Tsotsas, 2019, E. Microwave- and ultrasound-assisted convective drying of raspberries: Drying kinetics and microstructural changes. Dry. Technol. 154,89-96.</a:t>
            </a:r>
          </a:p>
          <a:p>
            <a:pPr algn="just"/>
            <a:r>
              <a:rPr sz="1800">
                <a:latin typeface="Times New Roman"/>
                <a:cs typeface="Times New Roman"/>
              </a:rPr>
              <a:t>Monitoring of pesticides in fruit and vegetable samples has increased in the last years since most countries have established maximum residue level (MRL) for pesticides in food products.</a:t>
            </a:r>
          </a:p>
          <a:p>
            <a:pPr algn="just"/>
            <a:r>
              <a:rPr sz="1800">
                <a:latin typeface="Times New Roman"/>
                <a:cs typeface="Times New Roman"/>
              </a:rPr>
              <a:t>Despite the wide ranging benefits of using pesticides in agriculture, several incorrect applications can result in high and undesirable levels of the compounds in the produce that reaches consumers.</a:t>
            </a:r>
          </a:p>
          <a:p>
            <a:pPr algn="just"/>
            <a:r>
              <a:rPr sz="1800">
                <a:latin typeface="Times New Roman"/>
                <a:cs typeface="Times New Roman"/>
              </a:rPr>
              <a:t>These include inappropriate selection of pesticides used on foodstuffs, over use of pesticides and harvesting the crops before the residues have washed off after application .</a:t>
            </a:r>
          </a:p>
        </p:txBody>
      </p:sp>
    </p:spTree>
    <p:extLst>
      <p:ext uri="{BB962C8B-B14F-4D97-AF65-F5344CB8AC3E}">
        <p14:creationId xmlns:p14="http://schemas.microsoft.com/office/powerpoint/2010/main" val="21969215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457200" y="243461"/>
            <a:ext cx="8229600" cy="726137"/>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sz="2400" b="1">
                <a:latin typeface="Times New Roman"/>
                <a:cs typeface="Times New Roman"/>
              </a:rPr>
              <a:t>AGENDA</a:t>
            </a:r>
            <a:endParaRPr b="1">
              <a:latin typeface="Times New Roman"/>
              <a:cs typeface="Times New Roman"/>
            </a:endParaRPr>
          </a:p>
        </p:txBody>
      </p:sp>
      <p:sp>
        <p:nvSpPr>
          <p:cNvPr id="6" name="Content Placeholder 2"/>
          <p:cNvSpPr txBox="1">
            <a:spLocks/>
          </p:cNvSpPr>
          <p:nvPr/>
        </p:nvSpPr>
        <p:spPr>
          <a:xfrm>
            <a:off x="457200" y="1340764"/>
            <a:ext cx="8229600" cy="4525956"/>
          </a:xfrm>
          <a:prstGeom prst="rect">
            <a:avLst/>
          </a:prstGeom>
        </p:spPr>
        <p:txBody>
          <a:bodyPr>
            <a:normAutofit fontScale="925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pPr>
            <a:r>
              <a:rPr sz="2400" dirty="0">
                <a:latin typeface="Times New Roman"/>
                <a:cs typeface="Times New Roman"/>
              </a:rPr>
              <a:t>ABSTRACT</a:t>
            </a:r>
          </a:p>
          <a:p>
            <a:pPr>
              <a:lnSpc>
                <a:spcPct val="150000"/>
              </a:lnSpc>
            </a:pPr>
            <a:r>
              <a:rPr sz="2400" dirty="0">
                <a:latin typeface="Times New Roman"/>
                <a:cs typeface="Times New Roman"/>
              </a:rPr>
              <a:t>OBJECTIVE</a:t>
            </a:r>
            <a:endParaRPr lang="en-US" sz="2400" dirty="0">
              <a:latin typeface="Times New Roman"/>
              <a:cs typeface="Times New Roman"/>
            </a:endParaRPr>
          </a:p>
          <a:p>
            <a:pPr>
              <a:lnSpc>
                <a:spcPct val="150000"/>
              </a:lnSpc>
            </a:pPr>
            <a:r>
              <a:rPr lang="en-US" sz="2400" dirty="0">
                <a:latin typeface="Times New Roman"/>
                <a:cs typeface="Times New Roman"/>
              </a:rPr>
              <a:t>INTRODUCTION</a:t>
            </a:r>
          </a:p>
          <a:p>
            <a:pPr>
              <a:lnSpc>
                <a:spcPct val="150000"/>
              </a:lnSpc>
            </a:pPr>
            <a:r>
              <a:rPr lang="en-US" sz="2400">
                <a:latin typeface="Times New Roman"/>
                <a:cs typeface="Times New Roman"/>
              </a:rPr>
              <a:t>MOTIVATION</a:t>
            </a:r>
            <a:endParaRPr sz="2400" dirty="0">
              <a:latin typeface="Times New Roman"/>
              <a:cs typeface="Times New Roman"/>
            </a:endParaRPr>
          </a:p>
          <a:p>
            <a:pPr>
              <a:lnSpc>
                <a:spcPct val="150000"/>
              </a:lnSpc>
            </a:pPr>
            <a:r>
              <a:rPr sz="2400" dirty="0">
                <a:latin typeface="Times New Roman"/>
                <a:cs typeface="Times New Roman"/>
              </a:rPr>
              <a:t>LITERATURE REVIEW</a:t>
            </a:r>
          </a:p>
          <a:p>
            <a:pPr>
              <a:lnSpc>
                <a:spcPct val="150000"/>
              </a:lnSpc>
            </a:pPr>
            <a:r>
              <a:rPr sz="2400" dirty="0">
                <a:latin typeface="Times New Roman"/>
                <a:cs typeface="Times New Roman"/>
              </a:rPr>
              <a:t>DESIGN AND METHODOLOGIES</a:t>
            </a:r>
          </a:p>
          <a:p>
            <a:pPr>
              <a:lnSpc>
                <a:spcPct val="150000"/>
              </a:lnSpc>
            </a:pPr>
            <a:r>
              <a:rPr sz="2400" dirty="0">
                <a:latin typeface="Times New Roman"/>
                <a:cs typeface="Times New Roman"/>
              </a:rPr>
              <a:t>IMPLEMENTATION</a:t>
            </a:r>
            <a:endParaRPr lang="en-US" sz="2400" dirty="0">
              <a:latin typeface="Times New Roman"/>
              <a:cs typeface="Times New Roman"/>
            </a:endParaRPr>
          </a:p>
          <a:p>
            <a:pPr>
              <a:lnSpc>
                <a:spcPct val="150000"/>
              </a:lnSpc>
            </a:pPr>
            <a:r>
              <a:rPr lang="en-US" sz="2400" dirty="0">
                <a:latin typeface="Times New Roman"/>
                <a:cs typeface="Times New Roman"/>
              </a:rPr>
              <a:t>TABULATION</a:t>
            </a:r>
            <a:endParaRPr sz="2400" dirty="0">
              <a:latin typeface="Times New Roman"/>
              <a:cs typeface="Times New Roman"/>
            </a:endParaRPr>
          </a:p>
          <a:p>
            <a:endParaRPr sz="2000" dirty="0">
              <a:latin typeface="Times New Roman"/>
              <a:cs typeface="Times New Roman"/>
            </a:endParaRPr>
          </a:p>
          <a:p>
            <a:endParaRPr sz="2000" dirty="0">
              <a:latin typeface="Times New Roman"/>
              <a:cs typeface="Times New Roman"/>
            </a:endParaRPr>
          </a:p>
          <a:p>
            <a:endParaRPr sz="2000" dirty="0">
              <a:latin typeface="Times New Roman"/>
              <a:cs typeface="Times New Roman"/>
            </a:endParaRPr>
          </a:p>
          <a:p>
            <a:endParaRPr sz="2000" dirty="0">
              <a:latin typeface="Times New Roman"/>
              <a:cs typeface="Times New Roman"/>
            </a:endParaRPr>
          </a:p>
        </p:txBody>
      </p:sp>
    </p:spTree>
    <p:extLst>
      <p:ext uri="{BB962C8B-B14F-4D97-AF65-F5344CB8AC3E}">
        <p14:creationId xmlns:p14="http://schemas.microsoft.com/office/powerpoint/2010/main" val="12330510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6589"/>
            <a:ext cx="8229600" cy="1039094"/>
          </a:xfrm>
        </p:spPr>
        <p:txBody>
          <a:bodyPr/>
          <a:lstStyle/>
          <a:p>
            <a:r>
              <a:rPr sz="2400" b="1">
                <a:latin typeface="Times New Roman"/>
                <a:cs typeface="Times New Roman"/>
              </a:rPr>
              <a:t>ABSTRACT</a:t>
            </a:r>
            <a:endParaRPr b="1">
              <a:latin typeface="Times New Roman"/>
              <a:cs typeface="Times New Roman"/>
            </a:endParaRPr>
          </a:p>
        </p:txBody>
      </p:sp>
      <p:sp>
        <p:nvSpPr>
          <p:cNvPr id="3" name="Content Placeholder 2"/>
          <p:cNvSpPr>
            <a:spLocks noGrp="1"/>
          </p:cNvSpPr>
          <p:nvPr>
            <p:ph idx="1"/>
          </p:nvPr>
        </p:nvSpPr>
        <p:spPr>
          <a:xfrm>
            <a:off x="304795" y="1365684"/>
            <a:ext cx="8229600" cy="4525956"/>
          </a:xfrm>
        </p:spPr>
        <p:txBody>
          <a:bodyPr>
            <a:noAutofit/>
          </a:bodyPr>
          <a:lstStyle/>
          <a:p>
            <a:pPr algn="just">
              <a:buFont typeface="Wingdings" panose="05000000000000000000" pitchFamily="2" charset="2"/>
              <a:buChar char="Ø"/>
            </a:pPr>
            <a:r>
              <a:rPr lang="en-US" sz="1800" dirty="0">
                <a:latin typeface="Times New Roman"/>
                <a:cs typeface="Times New Roman"/>
              </a:rPr>
              <a:t>This study aims to design and develop an electronic nose (e-nose) for food quality analysis. The e-nose is a device that can detect and identify various volatile compounds in food samples, providing an objective and non-destructive method for evaluating food quality. </a:t>
            </a:r>
          </a:p>
          <a:p>
            <a:pPr algn="just">
              <a:buFont typeface="Wingdings" panose="05000000000000000000" pitchFamily="2" charset="2"/>
              <a:buChar char="Ø"/>
            </a:pPr>
            <a:r>
              <a:rPr lang="en-US" sz="1800" dirty="0">
                <a:latin typeface="Times New Roman"/>
                <a:cs typeface="Times New Roman"/>
              </a:rPr>
              <a:t>The design of the e-nose includes the selection of appropriate sensors, the development of a signal processing algorithm, and the integration of these components into a portable and user-friendly device. </a:t>
            </a:r>
          </a:p>
          <a:p>
            <a:pPr algn="just">
              <a:buFont typeface="Wingdings" panose="05000000000000000000" pitchFamily="2" charset="2"/>
              <a:buChar char="Ø"/>
            </a:pPr>
            <a:r>
              <a:rPr lang="en-US" sz="1800" dirty="0">
                <a:latin typeface="Times New Roman"/>
                <a:cs typeface="Times New Roman"/>
              </a:rPr>
              <a:t>The e-nose will be tested and validated using a variety of food samples to assess its ability to detect changes in food quality, such as spoilage or contamination.</a:t>
            </a:r>
          </a:p>
          <a:p>
            <a:pPr algn="just">
              <a:buFont typeface="Wingdings" panose="05000000000000000000" pitchFamily="2" charset="2"/>
              <a:buChar char="Ø"/>
            </a:pPr>
            <a:r>
              <a:rPr lang="en-US" sz="1800" dirty="0">
                <a:latin typeface="Times New Roman"/>
                <a:cs typeface="Times New Roman"/>
              </a:rPr>
              <a:t> The results of this study will provide a reliable and efficient tool for food quality analysis, with potential applications in the food industry, agriculture, and consumer products.</a:t>
            </a:r>
            <a:endParaRPr sz="1800" dirty="0">
              <a:latin typeface="Times New Roman"/>
              <a:cs typeface="Times New Roman"/>
            </a:endParaRPr>
          </a:p>
        </p:txBody>
      </p:sp>
    </p:spTree>
    <p:extLst>
      <p:ext uri="{BB962C8B-B14F-4D97-AF65-F5344CB8AC3E}">
        <p14:creationId xmlns:p14="http://schemas.microsoft.com/office/powerpoint/2010/main" val="14208001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b="1">
                <a:latin typeface="Times New Roman"/>
                <a:cs typeface="Times New Roman"/>
              </a:rPr>
              <a:t>OBJECTIVES</a:t>
            </a:r>
            <a:r>
              <a:t> </a:t>
            </a:r>
          </a:p>
        </p:txBody>
      </p:sp>
      <p:sp>
        <p:nvSpPr>
          <p:cNvPr id="3" name="Content Placeholder 2"/>
          <p:cNvSpPr>
            <a:spLocks noGrp="1"/>
          </p:cNvSpPr>
          <p:nvPr>
            <p:ph idx="1"/>
          </p:nvPr>
        </p:nvSpPr>
        <p:spPr/>
        <p:txBody>
          <a:bodyPr>
            <a:normAutofit/>
          </a:bodyPr>
          <a:lstStyle/>
          <a:p>
            <a:pPr algn="just">
              <a:lnSpc>
                <a:spcPct val="150000"/>
              </a:lnSpc>
              <a:buFont typeface="Wingdings" panose="05000000000000000000" pitchFamily="2" charset="2"/>
              <a:buChar char="Ø"/>
            </a:pPr>
            <a:r>
              <a:rPr lang="en-US" sz="1800" b="1" dirty="0">
                <a:latin typeface="Times New Roman"/>
                <a:cs typeface="Times New Roman"/>
              </a:rPr>
              <a:t> </a:t>
            </a:r>
            <a:r>
              <a:rPr lang="en-US" sz="1800" dirty="0">
                <a:latin typeface="Times New Roman"/>
                <a:cs typeface="Times New Roman"/>
              </a:rPr>
              <a:t>To design an electronic nose (e-nose) system for testing the quality and ripeness of apples. </a:t>
            </a:r>
          </a:p>
          <a:p>
            <a:pPr algn="just">
              <a:lnSpc>
                <a:spcPct val="150000"/>
              </a:lnSpc>
              <a:buFont typeface="Wingdings" panose="05000000000000000000" pitchFamily="2" charset="2"/>
              <a:buChar char="Ø"/>
            </a:pPr>
            <a:r>
              <a:rPr lang="en-US" sz="1800" dirty="0">
                <a:latin typeface="Times New Roman"/>
                <a:cs typeface="Times New Roman"/>
              </a:rPr>
              <a:t>To accurately detect and identify volatile compounds in apples, which can indicate their quality and ripeness.</a:t>
            </a:r>
          </a:p>
          <a:p>
            <a:pPr algn="just">
              <a:lnSpc>
                <a:spcPct val="150000"/>
              </a:lnSpc>
              <a:buFont typeface="Wingdings" panose="05000000000000000000" pitchFamily="2" charset="2"/>
              <a:buChar char="Ø"/>
            </a:pPr>
            <a:r>
              <a:rPr lang="en-US" sz="1800" dirty="0">
                <a:latin typeface="Times New Roman"/>
                <a:cs typeface="Times New Roman"/>
              </a:rPr>
              <a:t> To minimize the cost of the e-nose system and make it widely available for use in the apple industry.</a:t>
            </a:r>
            <a:endParaRPr sz="1800" dirty="0">
              <a:latin typeface="Times New Roman"/>
              <a:cs typeface="Times New Roman"/>
            </a:endParaRPr>
          </a:p>
        </p:txBody>
      </p:sp>
    </p:spTree>
    <p:extLst>
      <p:ext uri="{BB962C8B-B14F-4D97-AF65-F5344CB8AC3E}">
        <p14:creationId xmlns:p14="http://schemas.microsoft.com/office/powerpoint/2010/main" val="41005369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BC53B-7568-3554-B97F-35F0C8BC2EAA}"/>
              </a:ext>
            </a:extLst>
          </p:cNvPr>
          <p:cNvSpPr>
            <a:spLocks noGrp="1"/>
          </p:cNvSpPr>
          <p:nvPr>
            <p:ph type="title"/>
          </p:nvPr>
        </p:nvSpPr>
        <p:spPr/>
        <p:txBody>
          <a:bodyPr>
            <a:normAutofit/>
          </a:bodyPr>
          <a:lstStyle/>
          <a:p>
            <a:r>
              <a:rPr sz="2400" b="1">
                <a:latin typeface="Times New Roman"/>
                <a:cs typeface="Times New Roman"/>
              </a:rPr>
              <a:t>LITERATURE REVIEW</a:t>
            </a:r>
          </a:p>
        </p:txBody>
      </p:sp>
      <p:sp>
        <p:nvSpPr>
          <p:cNvPr id="3" name="Content Placeholder 2">
            <a:extLst>
              <a:ext uri="{FF2B5EF4-FFF2-40B4-BE49-F238E27FC236}">
                <a16:creationId xmlns:a16="http://schemas.microsoft.com/office/drawing/2014/main" id="{2B045EE0-6DE2-8B1D-5D48-99506BC2C539}"/>
              </a:ext>
            </a:extLst>
          </p:cNvPr>
          <p:cNvSpPr>
            <a:spLocks noGrp="1"/>
          </p:cNvSpPr>
          <p:nvPr>
            <p:ph idx="1"/>
          </p:nvPr>
        </p:nvSpPr>
        <p:spPr/>
        <p:txBody>
          <a:bodyPr>
            <a:normAutofit/>
          </a:bodyPr>
          <a:lstStyle/>
          <a:p>
            <a:pPr marL="0" indent="0" algn="just">
              <a:buNone/>
            </a:pPr>
            <a:r>
              <a:rPr sz="1800" b="1">
                <a:latin typeface="Times New Roman"/>
                <a:cs typeface="Times New Roman"/>
              </a:rPr>
              <a:t>	Arrutia, F. Adam, M. Calvo-Carrascal, M.A. Mao, Y. Binner, 2001, E. Development of a continuous-flow system for microwave- assisted extraction of pectin-derived oligosaccharides from food waste.</a:t>
            </a:r>
          </a:p>
          <a:p>
            <a:pPr algn="just"/>
            <a:r>
              <a:rPr sz="1800">
                <a:latin typeface="Times New Roman"/>
                <a:cs typeface="Times New Roman"/>
              </a:rPr>
              <a:t>General Food Processing factors (PF) estimate the effect of processing methods pesticide on residue levels and the disposition of the residues in the processed products, calculated and considered by the joint FAO/WHO meeting on pesticide residues as follows PF = Residues in processed products mg Kg-1. </a:t>
            </a:r>
          </a:p>
          <a:p>
            <a:pPr algn="just"/>
            <a:r>
              <a:rPr sz="1800">
                <a:latin typeface="Times New Roman"/>
                <a:cs typeface="Times New Roman"/>
              </a:rPr>
              <a:t>PF values lower than 1 indicate a reduction in the residue level and higher than 1, a concentration effect.</a:t>
            </a:r>
          </a:p>
          <a:p>
            <a:pPr algn="just"/>
            <a:r>
              <a:rPr sz="1800">
                <a:latin typeface="Times New Roman"/>
                <a:cs typeface="Times New Roman"/>
              </a:rPr>
              <a:t>Foods 18 of 38 Friuts and Vegetables, like other foods, are treated through culinary and food processing before they are consumed.</a:t>
            </a:r>
          </a:p>
        </p:txBody>
      </p:sp>
    </p:spTree>
    <p:extLst>
      <p:ext uri="{BB962C8B-B14F-4D97-AF65-F5344CB8AC3E}">
        <p14:creationId xmlns:p14="http://schemas.microsoft.com/office/powerpoint/2010/main" val="1708968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17643"/>
            <a:ext cx="8229600" cy="4525956"/>
          </a:xfrm>
        </p:spPr>
        <p:txBody>
          <a:bodyPr>
            <a:noAutofit/>
          </a:bodyPr>
          <a:lstStyle/>
          <a:p>
            <a:pPr marL="0" indent="0" algn="just">
              <a:buNone/>
            </a:pPr>
            <a:r>
              <a:rPr sz="1800" b="1" dirty="0">
                <a:latin typeface="Times New Roman"/>
                <a:cs typeface="Times New Roman"/>
              </a:rPr>
              <a:t>METHODOLOGY:</a:t>
            </a:r>
            <a:endParaRPr lang="en-US" sz="1800" b="1" dirty="0">
              <a:latin typeface="Times New Roman"/>
              <a:cs typeface="Times New Roman"/>
            </a:endParaRPr>
          </a:p>
          <a:p>
            <a:pPr marL="0" indent="0" algn="just">
              <a:buNone/>
            </a:pPr>
            <a:endParaRPr sz="1800" b="1" dirty="0">
              <a:latin typeface="Times New Roman"/>
              <a:cs typeface="Times New Roman"/>
            </a:endParaRPr>
          </a:p>
          <a:p>
            <a:pPr algn="just">
              <a:buFont typeface="Wingdings"/>
              <a:buChar char="Ø"/>
            </a:pPr>
            <a:r>
              <a:rPr lang="en-US" sz="1800" dirty="0">
                <a:latin typeface="Times New Roman"/>
                <a:cs typeface="Times New Roman"/>
              </a:rPr>
              <a:t> Selection and calibration of appropriate sensors: Selecting sensors that can detect a wide range of volatile compounds that are specific to apples and calibrating them for optimal performance.</a:t>
            </a:r>
          </a:p>
          <a:p>
            <a:pPr algn="just">
              <a:buFont typeface="Wingdings"/>
              <a:buChar char="Ø"/>
            </a:pPr>
            <a:r>
              <a:rPr lang="en-US" sz="1800" dirty="0">
                <a:latin typeface="Times New Roman"/>
                <a:cs typeface="Times New Roman"/>
              </a:rPr>
              <a:t>Sample collection and preparation: Collecting apples from different stages of ripeness and preparing them for testing by removing any external contaminants.</a:t>
            </a:r>
          </a:p>
          <a:p>
            <a:pPr algn="just">
              <a:buFont typeface="Wingdings"/>
              <a:buChar char="Ø"/>
            </a:pPr>
            <a:r>
              <a:rPr lang="en-US" sz="1800" dirty="0">
                <a:latin typeface="Times New Roman"/>
                <a:cs typeface="Times New Roman"/>
              </a:rPr>
              <a:t>Data acquisition and analysis: Acquiring data from the sensors and analyzing it to determine the quality and ripeness of the apples.</a:t>
            </a:r>
          </a:p>
          <a:p>
            <a:pPr algn="just">
              <a:buFont typeface="Wingdings"/>
              <a:buChar char="Ø"/>
            </a:pPr>
            <a:r>
              <a:rPr lang="en-US" sz="1800" dirty="0">
                <a:latin typeface="Times New Roman"/>
                <a:cs typeface="Times New Roman"/>
              </a:rPr>
              <a:t>Validation of the e-nose system: Validating the e-nose system by comparing its results with those obtained from other testing methods.</a:t>
            </a:r>
          </a:p>
          <a:p>
            <a:pPr algn="just">
              <a:buFont typeface="Wingdings"/>
              <a:buChar char="Ø"/>
            </a:pPr>
            <a:r>
              <a:rPr lang="en-US" sz="1800" dirty="0">
                <a:latin typeface="Times New Roman"/>
                <a:cs typeface="Times New Roman"/>
              </a:rPr>
              <a:t>Refining and improving the e-nose system: Continuously refining and improving the e-nose system based on the results of validation and user feedback.</a:t>
            </a:r>
            <a:endParaRPr sz="1800" dirty="0">
              <a:latin typeface="Times New Roman"/>
              <a:cs typeface="Times New Roman"/>
            </a:endParaRPr>
          </a:p>
        </p:txBody>
      </p:sp>
      <p:sp>
        <p:nvSpPr>
          <p:cNvPr id="6" name="Title 1"/>
          <p:cNvSpPr>
            <a:spLocks noGrp="1"/>
          </p:cNvSpPr>
          <p:nvPr>
            <p:ph type="title"/>
          </p:nvPr>
        </p:nvSpPr>
        <p:spPr/>
        <p:txBody>
          <a:bodyPr/>
          <a:lstStyle/>
          <a:p>
            <a:r>
              <a:rPr sz="2400" b="1">
                <a:latin typeface="Times New Roman"/>
                <a:cs typeface="Times New Roman"/>
              </a:rPr>
              <a:t>DESIGN AND METHODOLOGIES</a:t>
            </a:r>
            <a:endParaRPr/>
          </a:p>
        </p:txBody>
      </p:sp>
    </p:spTree>
    <p:extLst>
      <p:ext uri="{BB962C8B-B14F-4D97-AF65-F5344CB8AC3E}">
        <p14:creationId xmlns:p14="http://schemas.microsoft.com/office/powerpoint/2010/main" val="40204289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892172-01A7-09DA-1886-07F0908A2AED}"/>
              </a:ext>
            </a:extLst>
          </p:cNvPr>
          <p:cNvSpPr>
            <a:spLocks noGrp="1"/>
          </p:cNvSpPr>
          <p:nvPr>
            <p:ph idx="1"/>
          </p:nvPr>
        </p:nvSpPr>
        <p:spPr>
          <a:xfrm>
            <a:off x="457200" y="1066804"/>
            <a:ext cx="8229600" cy="5111911"/>
          </a:xfrm>
        </p:spPr>
        <p:txBody>
          <a:bodyPr>
            <a:normAutofit/>
          </a:bodyPr>
          <a:lstStyle/>
          <a:p>
            <a:r>
              <a:rPr sz="2000" b="1" dirty="0">
                <a:latin typeface="Times New Roman"/>
                <a:cs typeface="Times New Roman"/>
              </a:rPr>
              <a:t>ARCHITECTURE DIAGRAM</a:t>
            </a:r>
          </a:p>
        </p:txBody>
      </p:sp>
      <p:sp>
        <p:nvSpPr>
          <p:cNvPr id="7" name="Rectangle 6">
            <a:extLst>
              <a:ext uri="{FF2B5EF4-FFF2-40B4-BE49-F238E27FC236}">
                <a16:creationId xmlns:a16="http://schemas.microsoft.com/office/drawing/2014/main" id="{C07534A2-06F2-50DC-B66B-63433CA488B2}"/>
              </a:ext>
            </a:extLst>
          </p:cNvPr>
          <p:cNvSpPr/>
          <p:nvPr/>
        </p:nvSpPr>
        <p:spPr>
          <a:xfrm>
            <a:off x="3810004" y="2743200"/>
            <a:ext cx="2016225" cy="29523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Times New Roman"/>
                <a:cs typeface="Times New Roman"/>
              </a:rPr>
              <a:t>Sampling camber</a:t>
            </a:r>
            <a:endParaRPr b="1" dirty="0">
              <a:latin typeface="Times New Roman"/>
              <a:cs typeface="Times New Roman"/>
            </a:endParaRPr>
          </a:p>
        </p:txBody>
      </p:sp>
      <p:sp>
        <p:nvSpPr>
          <p:cNvPr id="8" name="Rectangle 7">
            <a:extLst>
              <a:ext uri="{FF2B5EF4-FFF2-40B4-BE49-F238E27FC236}">
                <a16:creationId xmlns:a16="http://schemas.microsoft.com/office/drawing/2014/main" id="{174A934E-6D9E-158A-6E43-9CCF8AAEDBC1}"/>
              </a:ext>
            </a:extLst>
          </p:cNvPr>
          <p:cNvSpPr/>
          <p:nvPr/>
        </p:nvSpPr>
        <p:spPr>
          <a:xfrm>
            <a:off x="3918025" y="1894321"/>
            <a:ext cx="1800197" cy="36003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sz="1400" b="1">
                <a:latin typeface="Times New Roman"/>
                <a:cs typeface="Times New Roman"/>
              </a:rPr>
              <a:t>POWER SUPPLY</a:t>
            </a:r>
          </a:p>
        </p:txBody>
      </p:sp>
      <p:cxnSp>
        <p:nvCxnSpPr>
          <p:cNvPr id="9" name="Straight Arrow Connector 8">
            <a:extLst>
              <a:ext uri="{FF2B5EF4-FFF2-40B4-BE49-F238E27FC236}">
                <a16:creationId xmlns:a16="http://schemas.microsoft.com/office/drawing/2014/main" id="{2D8F8BB7-E31F-081B-01EA-3057AB5EE87C}"/>
              </a:ext>
            </a:extLst>
          </p:cNvPr>
          <p:cNvCxnSpPr>
            <a:stCxn id="8" idx="2"/>
            <a:endCxn id="7" idx="0"/>
          </p:cNvCxnSpPr>
          <p:nvPr/>
        </p:nvCxnSpPr>
        <p:spPr>
          <a:xfrm>
            <a:off x="4818124" y="2254355"/>
            <a:ext cx="0" cy="4888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047DFFF9-4277-FB8D-A682-7CE85AF48B79}"/>
              </a:ext>
            </a:extLst>
          </p:cNvPr>
          <p:cNvSpPr/>
          <p:nvPr/>
        </p:nvSpPr>
        <p:spPr>
          <a:xfrm>
            <a:off x="6651206" y="3850619"/>
            <a:ext cx="2264194" cy="94031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Times New Roman"/>
                <a:cs typeface="Times New Roman"/>
              </a:rPr>
              <a:t>DISPLAY AND COMMUNICATION SYSTEM</a:t>
            </a:r>
            <a:endParaRPr b="1" dirty="0">
              <a:latin typeface="Times New Roman"/>
              <a:cs typeface="Times New Roman"/>
            </a:endParaRPr>
          </a:p>
        </p:txBody>
      </p:sp>
      <p:cxnSp>
        <p:nvCxnSpPr>
          <p:cNvPr id="12" name="Straight Arrow Connector 11">
            <a:extLst>
              <a:ext uri="{FF2B5EF4-FFF2-40B4-BE49-F238E27FC236}">
                <a16:creationId xmlns:a16="http://schemas.microsoft.com/office/drawing/2014/main" id="{ABFE4761-6871-C1CA-A6BF-56B678D438D7}"/>
              </a:ext>
            </a:extLst>
          </p:cNvPr>
          <p:cNvCxnSpPr>
            <a:cxnSpLocks/>
          </p:cNvCxnSpPr>
          <p:nvPr/>
        </p:nvCxnSpPr>
        <p:spPr>
          <a:xfrm>
            <a:off x="5850451" y="4333307"/>
            <a:ext cx="764523" cy="1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295CA4F2-D275-27F2-9031-984A555C7C6E}"/>
              </a:ext>
            </a:extLst>
          </p:cNvPr>
          <p:cNvSpPr/>
          <p:nvPr/>
        </p:nvSpPr>
        <p:spPr>
          <a:xfrm>
            <a:off x="787905" y="5047464"/>
            <a:ext cx="1950649" cy="89613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Times New Roman"/>
                <a:cs typeface="Times New Roman"/>
              </a:rPr>
              <a:t>DATA ANALYSIS SOFTWARE</a:t>
            </a:r>
            <a:endParaRPr b="1" dirty="0">
              <a:latin typeface="Times New Roman"/>
              <a:cs typeface="Times New Roman"/>
            </a:endParaRPr>
          </a:p>
        </p:txBody>
      </p:sp>
      <p:cxnSp>
        <p:nvCxnSpPr>
          <p:cNvPr id="16" name="Straight Arrow Connector 15">
            <a:extLst>
              <a:ext uri="{FF2B5EF4-FFF2-40B4-BE49-F238E27FC236}">
                <a16:creationId xmlns:a16="http://schemas.microsoft.com/office/drawing/2014/main" id="{2F421D3B-0281-995C-0595-B1024B4561B4}"/>
              </a:ext>
            </a:extLst>
          </p:cNvPr>
          <p:cNvCxnSpPr>
            <a:cxnSpLocks/>
          </p:cNvCxnSpPr>
          <p:nvPr/>
        </p:nvCxnSpPr>
        <p:spPr>
          <a:xfrm flipV="1">
            <a:off x="2729889" y="4398303"/>
            <a:ext cx="10801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978BA462-A9BA-6E67-B074-08159E6EED14}"/>
              </a:ext>
            </a:extLst>
          </p:cNvPr>
          <p:cNvCxnSpPr/>
          <p:nvPr/>
        </p:nvCxnSpPr>
        <p:spPr>
          <a:xfrm flipV="1">
            <a:off x="2729889" y="5695522"/>
            <a:ext cx="10801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27D40894-C03E-C8D9-CE49-62205A531774}"/>
              </a:ext>
            </a:extLst>
          </p:cNvPr>
          <p:cNvSpPr/>
          <p:nvPr/>
        </p:nvSpPr>
        <p:spPr>
          <a:xfrm>
            <a:off x="796571" y="4094625"/>
            <a:ext cx="1941983" cy="47736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t>SENSORS</a:t>
            </a:r>
          </a:p>
        </p:txBody>
      </p:sp>
    </p:spTree>
    <p:extLst>
      <p:ext uri="{BB962C8B-B14F-4D97-AF65-F5344CB8AC3E}">
        <p14:creationId xmlns:p14="http://schemas.microsoft.com/office/powerpoint/2010/main" val="17348922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31F6E-A1E7-2F41-9E79-818ED284BF8C}"/>
              </a:ext>
            </a:extLst>
          </p:cNvPr>
          <p:cNvSpPr>
            <a:spLocks noGrp="1"/>
          </p:cNvSpPr>
          <p:nvPr>
            <p:ph type="ctrTitle"/>
          </p:nvPr>
        </p:nvSpPr>
        <p:spPr>
          <a:xfrm>
            <a:off x="457200" y="258763"/>
            <a:ext cx="7772400" cy="808038"/>
          </a:xfrm>
        </p:spPr>
        <p:txBody>
          <a:bodyPr/>
          <a:lstStyle/>
          <a:p>
            <a:r>
              <a:rPr lang="en-US" dirty="0"/>
              <a:t>TABULATION</a:t>
            </a:r>
          </a:p>
        </p:txBody>
      </p:sp>
      <p:sp>
        <p:nvSpPr>
          <p:cNvPr id="12" name="Subtitle 11">
            <a:extLst>
              <a:ext uri="{FF2B5EF4-FFF2-40B4-BE49-F238E27FC236}">
                <a16:creationId xmlns:a16="http://schemas.microsoft.com/office/drawing/2014/main" id="{8A8BB8E7-AC8E-EB16-B896-00AE1F037D01}"/>
              </a:ext>
            </a:extLst>
          </p:cNvPr>
          <p:cNvSpPr>
            <a:spLocks noGrp="1"/>
          </p:cNvSpPr>
          <p:nvPr>
            <p:ph type="subTitle" idx="1"/>
          </p:nvPr>
        </p:nvSpPr>
        <p:spPr>
          <a:xfrm>
            <a:off x="1371600" y="1096964"/>
            <a:ext cx="6400800" cy="808039"/>
          </a:xfrm>
        </p:spPr>
        <p:txBody>
          <a:bodyPr>
            <a:normAutofit/>
          </a:bodyPr>
          <a:lstStyle/>
          <a:p>
            <a:pPr algn="l"/>
            <a:r>
              <a:rPr lang="en-US" sz="2200" b="1" dirty="0">
                <a:solidFill>
                  <a:schemeClr val="tx1"/>
                </a:solidFill>
              </a:rPr>
              <a:t>Figure 2</a:t>
            </a:r>
          </a:p>
        </p:txBody>
      </p:sp>
      <p:sp>
        <p:nvSpPr>
          <p:cNvPr id="4" name="Date Placeholder 3">
            <a:extLst>
              <a:ext uri="{FF2B5EF4-FFF2-40B4-BE49-F238E27FC236}">
                <a16:creationId xmlns:a16="http://schemas.microsoft.com/office/drawing/2014/main" id="{B1132B08-EFB2-F610-57E1-116027C289C3}"/>
              </a:ext>
            </a:extLst>
          </p:cNvPr>
          <p:cNvSpPr>
            <a:spLocks noGrp="1"/>
          </p:cNvSpPr>
          <p:nvPr>
            <p:ph type="dt" sz="half" idx="10"/>
          </p:nvPr>
        </p:nvSpPr>
        <p:spPr/>
        <p:txBody>
          <a:bodyPr/>
          <a:lstStyle/>
          <a:p>
            <a:fld id="{8F4FA0F5-6424-40BF-B8B7-4C330280225C}" type="datetime1">
              <a:rPr lang="en-IN" smtClean="0"/>
              <a:t>13-02-2023</a:t>
            </a:fld>
            <a:endParaRPr lang="en-IN"/>
          </a:p>
        </p:txBody>
      </p:sp>
      <p:sp>
        <p:nvSpPr>
          <p:cNvPr id="5" name="Footer Placeholder 4">
            <a:extLst>
              <a:ext uri="{FF2B5EF4-FFF2-40B4-BE49-F238E27FC236}">
                <a16:creationId xmlns:a16="http://schemas.microsoft.com/office/drawing/2014/main" id="{12E58558-E99F-C4F4-394B-7D0150E25E1F}"/>
              </a:ext>
            </a:extLst>
          </p:cNvPr>
          <p:cNvSpPr>
            <a:spLocks noGrp="1"/>
          </p:cNvSpPr>
          <p:nvPr>
            <p:ph type="ftr" sz="quarter" idx="11"/>
          </p:nvPr>
        </p:nvSpPr>
        <p:spPr/>
        <p:txBody>
          <a:bodyPr/>
          <a:lstStyle/>
          <a:p>
            <a:r>
              <a:rPr lang="en-IN" dirty="0"/>
              <a:t>BATCH NO:                   PRESENTED DATE:</a:t>
            </a:r>
          </a:p>
        </p:txBody>
      </p:sp>
      <p:sp>
        <p:nvSpPr>
          <p:cNvPr id="6" name="Slide Number Placeholder 5">
            <a:extLst>
              <a:ext uri="{FF2B5EF4-FFF2-40B4-BE49-F238E27FC236}">
                <a16:creationId xmlns:a16="http://schemas.microsoft.com/office/drawing/2014/main" id="{73B23C72-8D68-6453-9B55-9D9280799388}"/>
              </a:ext>
            </a:extLst>
          </p:cNvPr>
          <p:cNvSpPr>
            <a:spLocks noGrp="1"/>
          </p:cNvSpPr>
          <p:nvPr>
            <p:ph type="sldNum" sz="quarter" idx="12"/>
          </p:nvPr>
        </p:nvSpPr>
        <p:spPr/>
        <p:txBody>
          <a:bodyPr/>
          <a:lstStyle/>
          <a:p>
            <a:fld id="{669AD40C-E5A7-4132-A31D-54A4D1BB6E89}" type="slidenum">
              <a:rPr lang="en-IN" smtClean="0"/>
              <a:pPr/>
              <a:t>10</a:t>
            </a:fld>
            <a:endParaRPr lang="en-IN"/>
          </a:p>
        </p:txBody>
      </p:sp>
      <p:pic>
        <p:nvPicPr>
          <p:cNvPr id="7" name="Picture 6">
            <a:extLst>
              <a:ext uri="{FF2B5EF4-FFF2-40B4-BE49-F238E27FC236}">
                <a16:creationId xmlns:a16="http://schemas.microsoft.com/office/drawing/2014/main" id="{461EB6AB-4D21-367D-6214-1483BBC17535}"/>
              </a:ext>
            </a:extLst>
          </p:cNvPr>
          <p:cNvPicPr>
            <a:picLocks noChangeAspect="1"/>
          </p:cNvPicPr>
          <p:nvPr/>
        </p:nvPicPr>
        <p:blipFill>
          <a:blip r:embed="rId2"/>
          <a:stretch>
            <a:fillRect/>
          </a:stretch>
        </p:blipFill>
        <p:spPr>
          <a:xfrm>
            <a:off x="1143000" y="228600"/>
            <a:ext cx="6362700" cy="685800"/>
          </a:xfrm>
          <a:prstGeom prst="rect">
            <a:avLst/>
          </a:prstGeom>
        </p:spPr>
      </p:pic>
      <p:pic>
        <p:nvPicPr>
          <p:cNvPr id="9" name="Picture 8">
            <a:extLst>
              <a:ext uri="{FF2B5EF4-FFF2-40B4-BE49-F238E27FC236}">
                <a16:creationId xmlns:a16="http://schemas.microsoft.com/office/drawing/2014/main" id="{5000FAED-81EC-BF4C-1619-65E5DEEC0F8C}"/>
              </a:ext>
            </a:extLst>
          </p:cNvPr>
          <p:cNvPicPr>
            <a:picLocks noChangeAspect="1"/>
          </p:cNvPicPr>
          <p:nvPr/>
        </p:nvPicPr>
        <p:blipFill>
          <a:blip r:embed="rId3"/>
          <a:stretch>
            <a:fillRect/>
          </a:stretch>
        </p:blipFill>
        <p:spPr>
          <a:xfrm>
            <a:off x="894844" y="1916906"/>
            <a:ext cx="7192937" cy="3844129"/>
          </a:xfrm>
          <a:prstGeom prst="rect">
            <a:avLst/>
          </a:prstGeom>
        </p:spPr>
      </p:pic>
    </p:spTree>
    <p:extLst>
      <p:ext uri="{BB962C8B-B14F-4D97-AF65-F5344CB8AC3E}">
        <p14:creationId xmlns:p14="http://schemas.microsoft.com/office/powerpoint/2010/main" val="35940513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A6148-626C-1E7E-062E-B76FEF9A0D2A}"/>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0F5EF9E0-9B1E-62E1-889D-430243DB63EB}"/>
              </a:ext>
            </a:extLst>
          </p:cNvPr>
          <p:cNvSpPr>
            <a:spLocks noGrp="1"/>
          </p:cNvSpPr>
          <p:nvPr>
            <p:ph idx="1"/>
          </p:nvPr>
        </p:nvSpPr>
        <p:spPr>
          <a:xfrm>
            <a:off x="463138" y="1600200"/>
            <a:ext cx="8223662" cy="4525963"/>
          </a:xfrm>
        </p:spPr>
        <p:txBody>
          <a:bodyPr>
            <a:normAutofit/>
          </a:bodyPr>
          <a:lstStyle/>
          <a:p>
            <a:pPr>
              <a:buFont typeface="Wingdings" panose="05000000000000000000" pitchFamily="2" charset="2"/>
              <a:buChar char="Ø"/>
            </a:pPr>
            <a:r>
              <a:rPr lang="en-US" dirty="0"/>
              <a:t> </a:t>
            </a:r>
            <a:r>
              <a:rPr lang="en-US" sz="2100" dirty="0">
                <a:latin typeface="Times New Roman" panose="02020603050405020304" pitchFamily="18" charset="0"/>
                <a:cs typeface="Times New Roman" panose="02020603050405020304" pitchFamily="18" charset="0"/>
              </a:rPr>
              <a:t>It is clear that the development of an </a:t>
            </a:r>
            <a:r>
              <a:rPr lang="en-US" sz="2100" dirty="0" err="1">
                <a:latin typeface="Times New Roman" panose="02020603050405020304" pitchFamily="18" charset="0"/>
                <a:cs typeface="Times New Roman" panose="02020603050405020304" pitchFamily="18" charset="0"/>
              </a:rPr>
              <a:t>eNose</a:t>
            </a:r>
            <a:r>
              <a:rPr lang="en-US" sz="2100" dirty="0">
                <a:latin typeface="Times New Roman" panose="02020603050405020304" pitchFamily="18" charset="0"/>
                <a:cs typeface="Times New Roman" panose="02020603050405020304" pitchFamily="18" charset="0"/>
              </a:rPr>
              <a:t> for food quality analysis has immense potential to revolutionize the food industry. By utilizing a combination of gas sensors, data processing, and artificial intelligence, the </a:t>
            </a:r>
            <a:r>
              <a:rPr lang="en-US" sz="2100" dirty="0" err="1">
                <a:latin typeface="Times New Roman" panose="02020603050405020304" pitchFamily="18" charset="0"/>
                <a:cs typeface="Times New Roman" panose="02020603050405020304" pitchFamily="18" charset="0"/>
              </a:rPr>
              <a:t>eNose</a:t>
            </a:r>
            <a:r>
              <a:rPr lang="en-US" sz="2100" dirty="0">
                <a:latin typeface="Times New Roman" panose="02020603050405020304" pitchFamily="18" charset="0"/>
                <a:cs typeface="Times New Roman" panose="02020603050405020304" pitchFamily="18" charset="0"/>
              </a:rPr>
              <a:t> can detect subtle changes in food quality and provide valuable insights into food safety and quality management. This technology can be used in a variety of applications, from early warning systems for food spoilage and contamination, to quality assurance for food producers. With further research and development, the </a:t>
            </a:r>
            <a:r>
              <a:rPr lang="en-US" sz="2100" dirty="0" err="1">
                <a:latin typeface="Times New Roman" panose="02020603050405020304" pitchFamily="18" charset="0"/>
                <a:cs typeface="Times New Roman" panose="02020603050405020304" pitchFamily="18" charset="0"/>
              </a:rPr>
              <a:t>eNose</a:t>
            </a:r>
            <a:r>
              <a:rPr lang="en-US" sz="2100" dirty="0">
                <a:latin typeface="Times New Roman" panose="02020603050405020304" pitchFamily="18" charset="0"/>
                <a:cs typeface="Times New Roman" panose="02020603050405020304" pitchFamily="18" charset="0"/>
              </a:rPr>
              <a:t> could become a key component of food quality management programs, helping to ensure that food is safe and of the highest quality for consumers.</a:t>
            </a:r>
          </a:p>
        </p:txBody>
      </p:sp>
      <p:sp>
        <p:nvSpPr>
          <p:cNvPr id="4" name="Date Placeholder 3">
            <a:extLst>
              <a:ext uri="{FF2B5EF4-FFF2-40B4-BE49-F238E27FC236}">
                <a16:creationId xmlns:a16="http://schemas.microsoft.com/office/drawing/2014/main" id="{3B415065-7E78-9112-62C4-D2A68ED7207F}"/>
              </a:ext>
            </a:extLst>
          </p:cNvPr>
          <p:cNvSpPr>
            <a:spLocks noGrp="1"/>
          </p:cNvSpPr>
          <p:nvPr>
            <p:ph type="dt" sz="half" idx="10"/>
          </p:nvPr>
        </p:nvSpPr>
        <p:spPr/>
        <p:txBody>
          <a:bodyPr/>
          <a:lstStyle/>
          <a:p>
            <a:fld id="{8F4FA0F5-6424-40BF-B8B7-4C330280225C}" type="datetime1">
              <a:rPr lang="en-IN" smtClean="0"/>
              <a:t>13-02-2023</a:t>
            </a:fld>
            <a:endParaRPr lang="en-IN"/>
          </a:p>
        </p:txBody>
      </p:sp>
      <p:sp>
        <p:nvSpPr>
          <p:cNvPr id="5" name="Footer Placeholder 4">
            <a:extLst>
              <a:ext uri="{FF2B5EF4-FFF2-40B4-BE49-F238E27FC236}">
                <a16:creationId xmlns:a16="http://schemas.microsoft.com/office/drawing/2014/main" id="{57B26E5A-BD13-BD33-3E22-2B3A72D3932F}"/>
              </a:ext>
            </a:extLst>
          </p:cNvPr>
          <p:cNvSpPr>
            <a:spLocks noGrp="1"/>
          </p:cNvSpPr>
          <p:nvPr>
            <p:ph type="ftr" sz="quarter" idx="11"/>
          </p:nvPr>
        </p:nvSpPr>
        <p:spPr/>
        <p:txBody>
          <a:bodyPr/>
          <a:lstStyle/>
          <a:p>
            <a:r>
              <a:rPr lang="en-IN"/>
              <a:t>BATCH NO:                   PRESENTED DATE:</a:t>
            </a:r>
          </a:p>
        </p:txBody>
      </p:sp>
      <p:sp>
        <p:nvSpPr>
          <p:cNvPr id="6" name="Slide Number Placeholder 5">
            <a:extLst>
              <a:ext uri="{FF2B5EF4-FFF2-40B4-BE49-F238E27FC236}">
                <a16:creationId xmlns:a16="http://schemas.microsoft.com/office/drawing/2014/main" id="{14868A70-982A-93ED-27EE-A0CEAA304438}"/>
              </a:ext>
            </a:extLst>
          </p:cNvPr>
          <p:cNvSpPr>
            <a:spLocks noGrp="1"/>
          </p:cNvSpPr>
          <p:nvPr>
            <p:ph type="sldNum" sz="quarter" idx="12"/>
          </p:nvPr>
        </p:nvSpPr>
        <p:spPr/>
        <p:txBody>
          <a:bodyPr/>
          <a:lstStyle/>
          <a:p>
            <a:fld id="{669AD40C-E5A7-4132-A31D-54A4D1BB6E89}" type="slidenum">
              <a:rPr lang="en-IN" smtClean="0"/>
              <a:pPr/>
              <a:t>11</a:t>
            </a:fld>
            <a:endParaRPr lang="en-IN"/>
          </a:p>
        </p:txBody>
      </p:sp>
    </p:spTree>
    <p:extLst>
      <p:ext uri="{BB962C8B-B14F-4D97-AF65-F5344CB8AC3E}">
        <p14:creationId xmlns:p14="http://schemas.microsoft.com/office/powerpoint/2010/main" val="28569771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lstStyle/>
          <a:p>
            <a:r>
              <a:rPr sz="2400" b="1">
                <a:latin typeface="Times New Roman"/>
                <a:cs typeface="Times New Roman"/>
              </a:rPr>
              <a:t>REFERENCES</a:t>
            </a:r>
            <a:endParaRPr/>
          </a:p>
        </p:txBody>
      </p:sp>
      <p:sp>
        <p:nvSpPr>
          <p:cNvPr id="7" name="Title 1"/>
          <p:cNvSpPr>
            <a:spLocks noGrp="1"/>
          </p:cNvSpPr>
          <p:nvPr>
            <p:ph idx="4294967295"/>
          </p:nvPr>
        </p:nvSpPr>
        <p:spPr>
          <a:xfrm>
            <a:off x="0" y="1600200"/>
            <a:ext cx="8229600" cy="4525963"/>
          </a:xfrm>
        </p:spPr>
        <p:txBody>
          <a:bodyPr>
            <a:normAutofit/>
          </a:bodyPr>
          <a:lstStyle/>
          <a:p>
            <a:pPr algn="just">
              <a:lnSpc>
                <a:spcPct val="150000"/>
              </a:lnSpc>
              <a:buFont typeface="Wingdings"/>
              <a:buChar char="Ø"/>
            </a:pPr>
            <a:r>
              <a:rPr sz="1800" dirty="0" err="1">
                <a:latin typeface="Times New Roman"/>
                <a:cs typeface="Times New Roman"/>
              </a:rPr>
              <a:t>Arrutia</a:t>
            </a:r>
            <a:r>
              <a:rPr sz="1800" dirty="0">
                <a:latin typeface="Times New Roman"/>
                <a:cs typeface="Times New Roman"/>
              </a:rPr>
              <a:t>, F.; Adam, M.; Calvo-</a:t>
            </a:r>
            <a:r>
              <a:rPr sz="1800" dirty="0" err="1">
                <a:latin typeface="Times New Roman"/>
                <a:cs typeface="Times New Roman"/>
              </a:rPr>
              <a:t>Carrascal</a:t>
            </a:r>
            <a:r>
              <a:rPr sz="1800" dirty="0">
                <a:latin typeface="Times New Roman"/>
                <a:cs typeface="Times New Roman"/>
              </a:rPr>
              <a:t>, M.Á.; Mao, Y.; </a:t>
            </a:r>
            <a:r>
              <a:rPr sz="1800" dirty="0" err="1">
                <a:latin typeface="Times New Roman"/>
                <a:cs typeface="Times New Roman"/>
              </a:rPr>
              <a:t>Binner</a:t>
            </a:r>
            <a:r>
              <a:rPr sz="1800" dirty="0">
                <a:latin typeface="Times New Roman"/>
                <a:cs typeface="Times New Roman"/>
              </a:rPr>
              <a:t>, E., 2001, Development of a continuous-flow system for microwave-assisted extraction of pectin-derived oligosaccharides from food waste. 352,182-186.</a:t>
            </a:r>
          </a:p>
          <a:p>
            <a:pPr algn="just">
              <a:lnSpc>
                <a:spcPct val="150000"/>
              </a:lnSpc>
              <a:buFont typeface="Wingdings"/>
              <a:buChar char="Ø"/>
            </a:pPr>
            <a:r>
              <a:rPr sz="1800" dirty="0">
                <a:latin typeface="Times New Roman"/>
                <a:cs typeface="Times New Roman"/>
              </a:rPr>
              <a:t> </a:t>
            </a:r>
            <a:r>
              <a:rPr sz="1800" dirty="0" err="1">
                <a:latin typeface="Times New Roman"/>
                <a:cs typeface="Times New Roman"/>
              </a:rPr>
              <a:t>Szadzinska</a:t>
            </a:r>
            <a:r>
              <a:rPr sz="1800" dirty="0">
                <a:latin typeface="Times New Roman"/>
                <a:cs typeface="Times New Roman"/>
              </a:rPr>
              <a:t>, </a:t>
            </a:r>
            <a:r>
              <a:rPr sz="1800" dirty="0" err="1">
                <a:latin typeface="Times New Roman"/>
                <a:cs typeface="Times New Roman"/>
              </a:rPr>
              <a:t>J,Lechtanska</a:t>
            </a:r>
            <a:r>
              <a:rPr sz="1800" dirty="0">
                <a:latin typeface="Times New Roman"/>
                <a:cs typeface="Times New Roman"/>
              </a:rPr>
              <a:t>, J, </a:t>
            </a:r>
            <a:r>
              <a:rPr sz="1800" dirty="0" err="1">
                <a:latin typeface="Times New Roman"/>
                <a:cs typeface="Times New Roman"/>
              </a:rPr>
              <a:t>Pashminehazar</a:t>
            </a:r>
            <a:r>
              <a:rPr sz="1800" dirty="0">
                <a:latin typeface="Times New Roman"/>
                <a:cs typeface="Times New Roman"/>
              </a:rPr>
              <a:t>, R.; </a:t>
            </a:r>
            <a:r>
              <a:rPr sz="1800" dirty="0" err="1">
                <a:latin typeface="Times New Roman"/>
                <a:cs typeface="Times New Roman"/>
              </a:rPr>
              <a:t>Kharaghani</a:t>
            </a:r>
            <a:r>
              <a:rPr sz="1800" dirty="0">
                <a:latin typeface="Times New Roman"/>
                <a:cs typeface="Times New Roman"/>
              </a:rPr>
              <a:t>, A.; </a:t>
            </a:r>
            <a:r>
              <a:rPr sz="1800" dirty="0" err="1">
                <a:latin typeface="Times New Roman"/>
                <a:cs typeface="Times New Roman"/>
              </a:rPr>
              <a:t>Tsotsas</a:t>
            </a:r>
            <a:r>
              <a:rPr sz="1800" dirty="0">
                <a:latin typeface="Times New Roman"/>
                <a:cs typeface="Times New Roman"/>
              </a:rPr>
              <a:t>, 2019, E. Microwave- and ultrasound-assisted convective drying of raspberries: Drying kinetics and microstructural changes. Dry. Technol. 154,89-96.</a:t>
            </a:r>
          </a:p>
          <a:p>
            <a:pPr algn="just">
              <a:lnSpc>
                <a:spcPct val="150000"/>
              </a:lnSpc>
              <a:buFont typeface="Wingdings"/>
              <a:buChar char="Ø"/>
            </a:pPr>
            <a:r>
              <a:rPr sz="1800" dirty="0">
                <a:latin typeface="Times New Roman"/>
                <a:cs typeface="Times New Roman"/>
              </a:rPr>
              <a:t> </a:t>
            </a:r>
            <a:r>
              <a:rPr sz="1800" dirty="0" err="1">
                <a:latin typeface="Times New Roman"/>
                <a:cs typeface="Times New Roman"/>
              </a:rPr>
              <a:t>Belluzo</a:t>
            </a:r>
            <a:r>
              <a:rPr sz="1800" dirty="0">
                <a:latin typeface="Times New Roman"/>
                <a:cs typeface="Times New Roman"/>
              </a:rPr>
              <a:t> M.S., </a:t>
            </a:r>
            <a:r>
              <a:rPr sz="1800" dirty="0" err="1">
                <a:latin typeface="Times New Roman"/>
                <a:cs typeface="Times New Roman"/>
              </a:rPr>
              <a:t>Ribone</a:t>
            </a:r>
            <a:r>
              <a:rPr sz="1800" dirty="0">
                <a:latin typeface="Times New Roman"/>
                <a:cs typeface="Times New Roman"/>
              </a:rPr>
              <a:t> M.E., </a:t>
            </a:r>
            <a:r>
              <a:rPr sz="1800" dirty="0" err="1">
                <a:latin typeface="Times New Roman"/>
                <a:cs typeface="Times New Roman"/>
              </a:rPr>
              <a:t>Lagier</a:t>
            </a:r>
            <a:r>
              <a:rPr sz="1800" dirty="0">
                <a:latin typeface="Times New Roman"/>
                <a:cs typeface="Times New Roman"/>
              </a:rPr>
              <a:t> C.M. Assembling </a:t>
            </a:r>
            <a:r>
              <a:rPr sz="1800" dirty="0" err="1">
                <a:latin typeface="Times New Roman"/>
                <a:cs typeface="Times New Roman"/>
              </a:rPr>
              <a:t>Amperometric</a:t>
            </a:r>
            <a:r>
              <a:rPr sz="1800" dirty="0">
                <a:latin typeface="Times New Roman"/>
                <a:cs typeface="Times New Roman"/>
              </a:rPr>
              <a:t> Biosensors for Clinical Diagnostics. Sensors. 2008;8:1366–1399.</a:t>
            </a:r>
          </a:p>
        </p:txBody>
      </p:sp>
    </p:spTree>
    <p:extLst>
      <p:ext uri="{BB962C8B-B14F-4D97-AF65-F5344CB8AC3E}">
        <p14:creationId xmlns:p14="http://schemas.microsoft.com/office/powerpoint/2010/main" val="9846263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76792E-A3A2-D7E7-14DA-D019FEDC91FF}"/>
              </a:ext>
            </a:extLst>
          </p:cNvPr>
          <p:cNvSpPr>
            <a:spLocks noGrp="1"/>
          </p:cNvSpPr>
          <p:nvPr>
            <p:ph idx="1"/>
          </p:nvPr>
        </p:nvSpPr>
        <p:spPr>
          <a:xfrm>
            <a:off x="457200" y="1066804"/>
            <a:ext cx="8229600" cy="5111911"/>
          </a:xfrm>
        </p:spPr>
        <p:txBody>
          <a:bodyPr>
            <a:normAutofit/>
          </a:bodyPr>
          <a:lstStyle/>
          <a:p>
            <a:pPr algn="just">
              <a:lnSpc>
                <a:spcPct val="150000"/>
              </a:lnSpc>
              <a:buFont typeface="Wingdings"/>
              <a:buChar char="Ø"/>
            </a:pPr>
            <a:r>
              <a:rPr sz="1800">
                <a:latin typeface="Times New Roman"/>
                <a:cs typeface="Times New Roman"/>
              </a:rPr>
              <a:t>SherlinVarughese, NayanaShinde, SwapnaliYadav, Jignesh Sisodia “Learning-Based Fruit Disease Detection Using Image Processing” International Journal of Innovative and Emerging Research in Engineering Volume 3, Issue 2, p-ISSN: 2394-5494,2016.</a:t>
            </a:r>
          </a:p>
          <a:p>
            <a:pPr algn="just">
              <a:lnSpc>
                <a:spcPct val="150000"/>
              </a:lnSpc>
              <a:buFont typeface="Wingdings"/>
              <a:buChar char="Ø"/>
            </a:pPr>
            <a:r>
              <a:rPr sz="1800">
                <a:latin typeface="Times New Roman"/>
                <a:cs typeface="Times New Roman"/>
              </a:rPr>
              <a:t>Mustapha F. A. Jallow, Dawood G. Awadh, Mohammed S. Albaho, Vimala Y. Devi, and NisarAhmad”Monitoring Of Pesticide Residue In Commonly Used Fruits And Vegetables In Kuwait”Int J Environ Res Public Health. 2017 Aug. </a:t>
            </a:r>
          </a:p>
          <a:p>
            <a:pPr algn="just">
              <a:lnSpc>
                <a:spcPct val="150000"/>
              </a:lnSpc>
              <a:buFont typeface="Wingdings"/>
              <a:buChar char="Ø"/>
            </a:pPr>
            <a:r>
              <a:rPr sz="1800">
                <a:latin typeface="Times New Roman"/>
                <a:cs typeface="Times New Roman"/>
              </a:rPr>
              <a:t>BhaviniJ.Samajpati, SheshangD.Degadwala “Hybrid Approach for Apple Fruit Diseases Detection and Classification Using Random Forest Classifier” IEEE International Conference on Communication and Signal Processing, pp. 978-5090-0396,2016.</a:t>
            </a:r>
          </a:p>
          <a:p>
            <a:pPr marL="0" indent="0">
              <a:lnSpc>
                <a:spcPct val="150000"/>
              </a:lnSpc>
              <a:buNone/>
            </a:pPr>
            <a:endParaRPr sz="1800">
              <a:latin typeface="Times New Roman"/>
              <a:cs typeface="Times New Roman"/>
            </a:endParaRPr>
          </a:p>
        </p:txBody>
      </p:sp>
    </p:spTree>
    <p:extLst>
      <p:ext uri="{BB962C8B-B14F-4D97-AF65-F5344CB8AC3E}">
        <p14:creationId xmlns:p14="http://schemas.microsoft.com/office/powerpoint/2010/main" val="29595627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395</TotalTime>
  <Words>1227</Words>
  <Application>Microsoft Office PowerPoint</Application>
  <PresentationFormat>On-screen Show (4:3)</PresentationFormat>
  <Paragraphs>84</Paragraphs>
  <Slides>13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Times New Roman</vt:lpstr>
      <vt:lpstr>Wingdings</vt:lpstr>
      <vt:lpstr>Office Theme</vt:lpstr>
      <vt:lpstr>PowerPoint Presentation</vt:lpstr>
      <vt:lpstr>INTRODUCTION</vt:lpstr>
      <vt:lpstr>LITERATURE REVIEW</vt:lpstr>
      <vt:lpstr>PowerPoint Presentation</vt:lpstr>
      <vt:lpstr>ABSTRACT</vt:lpstr>
      <vt:lpstr>OBJECTIVES </vt:lpstr>
      <vt:lpstr>LITERATURE REVIEW</vt:lpstr>
      <vt:lpstr>DESIGN AND METHODOLOGIES</vt:lpstr>
      <vt:lpstr>PowerPoint Presentation</vt:lpstr>
      <vt:lpstr>TABULATION</vt:lpstr>
      <vt:lpstr>CONCLUSION</vt:lpstr>
      <vt:lpstr>REFERENCES</vt:lpstr>
      <vt:lpstr>PowerPoint Presentation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Ashok Vijay</dc:creator>
  <cp:lastModifiedBy>Yakkanti Venkata Sri Charan Reddy</cp:lastModifiedBy>
  <cp:revision>17</cp:revision>
  <dcterms:created xsi:type="dcterms:W3CDTF">2020-03-05T03:47:09Z</dcterms:created>
  <dcterms:modified xsi:type="dcterms:W3CDTF">2023-02-13T13:41:37Z</dcterms:modified>
</cp:coreProperties>
</file>